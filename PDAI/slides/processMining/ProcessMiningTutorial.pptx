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</p:sldMasterIdLst>
  <p:notesMasterIdLst>
    <p:notesMasterId r:id="rId79"/>
  </p:notesMasterIdLst>
  <p:handoutMasterIdLst>
    <p:handoutMasterId r:id="rId80"/>
  </p:handoutMasterIdLst>
  <p:sldIdLst>
    <p:sldId id="256" r:id="rId6"/>
    <p:sldId id="289" r:id="rId7"/>
    <p:sldId id="293" r:id="rId8"/>
    <p:sldId id="1682" r:id="rId9"/>
    <p:sldId id="1689" r:id="rId10"/>
    <p:sldId id="1690" r:id="rId11"/>
    <p:sldId id="1691" r:id="rId12"/>
    <p:sldId id="1693" r:id="rId13"/>
    <p:sldId id="1696" r:id="rId14"/>
    <p:sldId id="1697" r:id="rId15"/>
    <p:sldId id="1699" r:id="rId16"/>
    <p:sldId id="1694" r:id="rId17"/>
    <p:sldId id="1698" r:id="rId18"/>
    <p:sldId id="1683" r:id="rId19"/>
    <p:sldId id="296" r:id="rId20"/>
    <p:sldId id="297" r:id="rId21"/>
    <p:sldId id="298" r:id="rId22"/>
    <p:sldId id="1686" r:id="rId23"/>
    <p:sldId id="286" r:id="rId24"/>
    <p:sldId id="310" r:id="rId25"/>
    <p:sldId id="290" r:id="rId26"/>
    <p:sldId id="275" r:id="rId27"/>
    <p:sldId id="311" r:id="rId28"/>
    <p:sldId id="291" r:id="rId29"/>
    <p:sldId id="313" r:id="rId30"/>
    <p:sldId id="1687" r:id="rId31"/>
    <p:sldId id="315" r:id="rId32"/>
    <p:sldId id="257" r:id="rId33"/>
    <p:sldId id="258" r:id="rId34"/>
    <p:sldId id="340" r:id="rId35"/>
    <p:sldId id="342" r:id="rId36"/>
    <p:sldId id="341" r:id="rId37"/>
    <p:sldId id="259" r:id="rId38"/>
    <p:sldId id="260" r:id="rId39"/>
    <p:sldId id="264" r:id="rId40"/>
    <p:sldId id="265" r:id="rId41"/>
    <p:sldId id="270" r:id="rId42"/>
    <p:sldId id="273" r:id="rId43"/>
    <p:sldId id="287" r:id="rId44"/>
    <p:sldId id="323" r:id="rId45"/>
    <p:sldId id="281" r:id="rId46"/>
    <p:sldId id="272" r:id="rId47"/>
    <p:sldId id="261" r:id="rId48"/>
    <p:sldId id="324" r:id="rId49"/>
    <p:sldId id="292" r:id="rId50"/>
    <p:sldId id="308" r:id="rId51"/>
    <p:sldId id="325" r:id="rId52"/>
    <p:sldId id="312" r:id="rId53"/>
    <p:sldId id="326" r:id="rId54"/>
    <p:sldId id="327" r:id="rId55"/>
    <p:sldId id="314" r:id="rId56"/>
    <p:sldId id="316" r:id="rId57"/>
    <p:sldId id="320" r:id="rId58"/>
    <p:sldId id="343" r:id="rId59"/>
    <p:sldId id="328" r:id="rId60"/>
    <p:sldId id="317" r:id="rId61"/>
    <p:sldId id="321" r:id="rId62"/>
    <p:sldId id="331" r:id="rId63"/>
    <p:sldId id="318" r:id="rId64"/>
    <p:sldId id="322" r:id="rId65"/>
    <p:sldId id="329" r:id="rId66"/>
    <p:sldId id="288" r:id="rId67"/>
    <p:sldId id="330" r:id="rId68"/>
    <p:sldId id="332" r:id="rId69"/>
    <p:sldId id="267" r:id="rId70"/>
    <p:sldId id="333" r:id="rId71"/>
    <p:sldId id="336" r:id="rId72"/>
    <p:sldId id="334" r:id="rId73"/>
    <p:sldId id="299" r:id="rId74"/>
    <p:sldId id="337" r:id="rId75"/>
    <p:sldId id="1688" r:id="rId76"/>
    <p:sldId id="278" r:id="rId77"/>
    <p:sldId id="1695" r:id="rId78"/>
  </p:sldIdLst>
  <p:sldSz cx="13004800" cy="9753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1pPr>
    <a:lvl2pPr marL="4572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2pPr>
    <a:lvl3pPr marL="9144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3pPr>
    <a:lvl4pPr marL="13716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4pPr>
    <a:lvl5pPr marL="1828800" algn="l" rtl="0" eaLnBrk="0" fontAlgn="base" hangingPunct="0">
      <a:spcBef>
        <a:spcPct val="0"/>
      </a:spcBef>
      <a:spcAft>
        <a:spcPct val="0"/>
      </a:spcAft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5pPr>
    <a:lvl6pPr marL="22860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6pPr>
    <a:lvl7pPr marL="27432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7pPr>
    <a:lvl8pPr marL="32004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8pPr>
    <a:lvl9pPr marL="3657600" algn="l" defTabSz="914400" rtl="0" eaLnBrk="1" latinLnBrk="0" hangingPunct="1">
      <a:defRPr sz="40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9pPr>
  </p:defaultTextStyle>
  <p:extLst>
    <p:ext uri="{EFAFB233-063F-42B5-8137-9DF3F51BA10A}">
      <p15:sldGuideLst xmlns:p15="http://schemas.microsoft.com/office/powerpoint/2012/main"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33DB55-98E5-1445-9165-B699C83E8388}" v="1" dt="2026-03-02T21:37:09.7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73"/>
    <p:restoredTop sz="94658"/>
  </p:normalViewPr>
  <p:slideViewPr>
    <p:cSldViewPr>
      <p:cViewPr varScale="1">
        <p:scale>
          <a:sx n="84" d="100"/>
          <a:sy n="84" d="100"/>
        </p:scale>
        <p:origin x="880" y="208"/>
      </p:cViewPr>
      <p:guideLst>
        <p:guide orient="horz" pos="3072"/>
        <p:guide pos="40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ableStyles" Target="tableStyles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handoutMaster" Target="handoutMasters/handoutMaster1.xml"/><Relationship Id="rId85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Vandin" userId="a434106a-4c3d-40a3-9adb-661b1e7b96ad" providerId="ADAL" clId="{3BB61298-7EEB-5E55-9F6A-19690B42A4AC}"/>
    <pc:docChg chg="custSel modSld">
      <pc:chgData name="Andrea Vandin" userId="a434106a-4c3d-40a3-9adb-661b1e7b96ad" providerId="ADAL" clId="{3BB61298-7EEB-5E55-9F6A-19690B42A4AC}" dt="2026-03-02T21:37:51.503" v="117" actId="14100"/>
      <pc:docMkLst>
        <pc:docMk/>
      </pc:docMkLst>
      <pc:sldChg chg="addSp delSp modSp mod">
        <pc:chgData name="Andrea Vandin" userId="a434106a-4c3d-40a3-9adb-661b1e7b96ad" providerId="ADAL" clId="{3BB61298-7EEB-5E55-9F6A-19690B42A4AC}" dt="2026-02-04T20:55:59.465" v="9" actId="1035"/>
        <pc:sldMkLst>
          <pc:docMk/>
          <pc:sldMk cId="1189015072" sldId="1694"/>
        </pc:sldMkLst>
        <pc:spChg chg="add mod">
          <ac:chgData name="Andrea Vandin" userId="a434106a-4c3d-40a3-9adb-661b1e7b96ad" providerId="ADAL" clId="{3BB61298-7EEB-5E55-9F6A-19690B42A4AC}" dt="2026-02-04T20:55:54.385" v="6" actId="1076"/>
          <ac:spMkLst>
            <pc:docMk/>
            <pc:sldMk cId="1189015072" sldId="1694"/>
            <ac:spMk id="4" creationId="{956B4AD8-BE78-596C-99DF-DCF705733D33}"/>
          </ac:spMkLst>
        </pc:spChg>
        <pc:picChg chg="add mod">
          <ac:chgData name="Andrea Vandin" userId="a434106a-4c3d-40a3-9adb-661b1e7b96ad" providerId="ADAL" clId="{3BB61298-7EEB-5E55-9F6A-19690B42A4AC}" dt="2026-02-04T20:55:54.385" v="6" actId="1076"/>
          <ac:picMkLst>
            <pc:docMk/>
            <pc:sldMk cId="1189015072" sldId="1694"/>
            <ac:picMk id="2" creationId="{27D8E6FC-EB9F-90E3-639C-6363B4186888}"/>
          </ac:picMkLst>
        </pc:picChg>
        <pc:picChg chg="add mod">
          <ac:chgData name="Andrea Vandin" userId="a434106a-4c3d-40a3-9adb-661b1e7b96ad" providerId="ADAL" clId="{3BB61298-7EEB-5E55-9F6A-19690B42A4AC}" dt="2026-02-04T20:55:59.465" v="9" actId="1035"/>
          <ac:picMkLst>
            <pc:docMk/>
            <pc:sldMk cId="1189015072" sldId="1694"/>
            <ac:picMk id="3" creationId="{C4991497-FB7E-97F4-8E9B-F5EB09AFA3D8}"/>
          </ac:picMkLst>
        </pc:picChg>
      </pc:sldChg>
      <pc:sldChg chg="addSp delSp modSp mod">
        <pc:chgData name="Andrea Vandin" userId="a434106a-4c3d-40a3-9adb-661b1e7b96ad" providerId="ADAL" clId="{3BB61298-7EEB-5E55-9F6A-19690B42A4AC}" dt="2026-02-04T21:04:03.071" v="63" actId="20577"/>
        <pc:sldMkLst>
          <pc:docMk/>
          <pc:sldMk cId="3678316844" sldId="1696"/>
        </pc:sldMkLst>
        <pc:spChg chg="mod">
          <ac:chgData name="Andrea Vandin" userId="a434106a-4c3d-40a3-9adb-661b1e7b96ad" providerId="ADAL" clId="{3BB61298-7EEB-5E55-9F6A-19690B42A4AC}" dt="2026-02-04T21:04:03.071" v="63" actId="20577"/>
          <ac:spMkLst>
            <pc:docMk/>
            <pc:sldMk cId="3678316844" sldId="1696"/>
            <ac:spMk id="11" creationId="{960EFE26-7A1E-79DC-D9E8-7F7369EDEF81}"/>
          </ac:spMkLst>
        </pc:spChg>
        <pc:picChg chg="add mod modCrop">
          <ac:chgData name="Andrea Vandin" userId="a434106a-4c3d-40a3-9adb-661b1e7b96ad" providerId="ADAL" clId="{3BB61298-7EEB-5E55-9F6A-19690B42A4AC}" dt="2026-02-04T21:03:21.779" v="54" actId="1076"/>
          <ac:picMkLst>
            <pc:docMk/>
            <pc:sldMk cId="3678316844" sldId="1696"/>
            <ac:picMk id="2" creationId="{E4CDB0DF-ADFE-BB50-1292-EFE96112F466}"/>
          </ac:picMkLst>
        </pc:picChg>
        <pc:picChg chg="mod">
          <ac:chgData name="Andrea Vandin" userId="a434106a-4c3d-40a3-9adb-661b1e7b96ad" providerId="ADAL" clId="{3BB61298-7EEB-5E55-9F6A-19690B42A4AC}" dt="2026-02-04T21:03:14.216" v="50" actId="1036"/>
          <ac:picMkLst>
            <pc:docMk/>
            <pc:sldMk cId="3678316844" sldId="1696"/>
            <ac:picMk id="5" creationId="{5ADA6FD6-216B-D6BC-8136-024EE90D023D}"/>
          </ac:picMkLst>
        </pc:picChg>
        <pc:picChg chg="add mod modCrop">
          <ac:chgData name="Andrea Vandin" userId="a434106a-4c3d-40a3-9adb-661b1e7b96ad" providerId="ADAL" clId="{3BB61298-7EEB-5E55-9F6A-19690B42A4AC}" dt="2026-02-04T21:03:34.461" v="58" actId="1035"/>
          <ac:picMkLst>
            <pc:docMk/>
            <pc:sldMk cId="3678316844" sldId="1696"/>
            <ac:picMk id="6" creationId="{C5233A00-4C3F-EB04-9A8C-87EA2393AFEA}"/>
          </ac:picMkLst>
        </pc:picChg>
      </pc:sldChg>
      <pc:sldChg chg="addSp delSp modSp mod">
        <pc:chgData name="Andrea Vandin" userId="a434106a-4c3d-40a3-9adb-661b1e7b96ad" providerId="ADAL" clId="{3BB61298-7EEB-5E55-9F6A-19690B42A4AC}" dt="2026-02-04T21:04:06.542" v="66" actId="20577"/>
        <pc:sldMkLst>
          <pc:docMk/>
          <pc:sldMk cId="3617264431" sldId="1697"/>
        </pc:sldMkLst>
        <pc:spChg chg="mod">
          <ac:chgData name="Andrea Vandin" userId="a434106a-4c3d-40a3-9adb-661b1e7b96ad" providerId="ADAL" clId="{3BB61298-7EEB-5E55-9F6A-19690B42A4AC}" dt="2026-02-04T21:04:06.542" v="66" actId="20577"/>
          <ac:spMkLst>
            <pc:docMk/>
            <pc:sldMk cId="3617264431" sldId="1697"/>
            <ac:spMk id="2" creationId="{516D5DF1-658C-9614-8386-55AF7BACFC7A}"/>
          </ac:spMkLst>
        </pc:spChg>
        <pc:picChg chg="add mod">
          <ac:chgData name="Andrea Vandin" userId="a434106a-4c3d-40a3-9adb-661b1e7b96ad" providerId="ADAL" clId="{3BB61298-7EEB-5E55-9F6A-19690B42A4AC}" dt="2026-02-04T21:03:49.995" v="60"/>
          <ac:picMkLst>
            <pc:docMk/>
            <pc:sldMk cId="3617264431" sldId="1697"/>
            <ac:picMk id="3" creationId="{172370DA-0839-77F5-FAA1-AF863CA8A6B4}"/>
          </ac:picMkLst>
        </pc:picChg>
        <pc:picChg chg="add mod">
          <ac:chgData name="Andrea Vandin" userId="a434106a-4c3d-40a3-9adb-661b1e7b96ad" providerId="ADAL" clId="{3BB61298-7EEB-5E55-9F6A-19690B42A4AC}" dt="2026-02-04T21:03:49.995" v="60"/>
          <ac:picMkLst>
            <pc:docMk/>
            <pc:sldMk cId="3617264431" sldId="1697"/>
            <ac:picMk id="7" creationId="{FE36E82C-0E0A-A52E-327D-0AF7F5C39DC3}"/>
          </ac:picMkLst>
        </pc:picChg>
      </pc:sldChg>
      <pc:sldChg chg="addSp modSp mod">
        <pc:chgData name="Andrea Vandin" userId="a434106a-4c3d-40a3-9adb-661b1e7b96ad" providerId="ADAL" clId="{3BB61298-7EEB-5E55-9F6A-19690B42A4AC}" dt="2026-03-02T21:37:51.503" v="117" actId="14100"/>
        <pc:sldMkLst>
          <pc:docMk/>
          <pc:sldMk cId="4147467533" sldId="1698"/>
        </pc:sldMkLst>
        <pc:picChg chg="add mod">
          <ac:chgData name="Andrea Vandin" userId="a434106a-4c3d-40a3-9adb-661b1e7b96ad" providerId="ADAL" clId="{3BB61298-7EEB-5E55-9F6A-19690B42A4AC}" dt="2026-03-02T21:37:51.503" v="117" actId="14100"/>
          <ac:picMkLst>
            <pc:docMk/>
            <pc:sldMk cId="4147467533" sldId="1698"/>
            <ac:picMk id="2" creationId="{A839ABCD-A916-C7E7-AF06-4AE2B426B571}"/>
          </ac:picMkLst>
        </pc:picChg>
        <pc:picChg chg="mod">
          <ac:chgData name="Andrea Vandin" userId="a434106a-4c3d-40a3-9adb-661b1e7b96ad" providerId="ADAL" clId="{3BB61298-7EEB-5E55-9F6A-19690B42A4AC}" dt="2026-03-02T21:37:38.931" v="110" actId="1036"/>
          <ac:picMkLst>
            <pc:docMk/>
            <pc:sldMk cId="4147467533" sldId="1698"/>
            <ac:picMk id="5" creationId="{9659EF6B-FCCF-CCE9-E597-D036937153AA}"/>
          </ac:picMkLst>
        </pc:picChg>
        <pc:picChg chg="mod">
          <ac:chgData name="Andrea Vandin" userId="a434106a-4c3d-40a3-9adb-661b1e7b96ad" providerId="ADAL" clId="{3BB61298-7EEB-5E55-9F6A-19690B42A4AC}" dt="2026-03-02T21:37:29.734" v="104" actId="1076"/>
          <ac:picMkLst>
            <pc:docMk/>
            <pc:sldMk cId="4147467533" sldId="1698"/>
            <ac:picMk id="14" creationId="{4F22F529-E401-D8F6-E99B-0D95820F2BDC}"/>
          </ac:picMkLst>
        </pc:picChg>
      </pc:sldChg>
      <pc:sldChg chg="delSp modSp mod">
        <pc:chgData name="Andrea Vandin" userId="a434106a-4c3d-40a3-9adb-661b1e7b96ad" providerId="ADAL" clId="{3BB61298-7EEB-5E55-9F6A-19690B42A4AC}" dt="2026-02-05T17:56:32.990" v="99" actId="1036"/>
        <pc:sldMkLst>
          <pc:docMk/>
          <pc:sldMk cId="804749343" sldId="1699"/>
        </pc:sldMkLst>
        <pc:picChg chg="mod">
          <ac:chgData name="Andrea Vandin" userId="a434106a-4c3d-40a3-9adb-661b1e7b96ad" providerId="ADAL" clId="{3BB61298-7EEB-5E55-9F6A-19690B42A4AC}" dt="2026-02-05T17:56:31.702" v="85" actId="1036"/>
          <ac:picMkLst>
            <pc:docMk/>
            <pc:sldMk cId="804749343" sldId="1699"/>
            <ac:picMk id="3" creationId="{C8E8F019-3542-D1DD-0819-111B625A7424}"/>
          </ac:picMkLst>
        </pc:picChg>
        <pc:picChg chg="mod">
          <ac:chgData name="Andrea Vandin" userId="a434106a-4c3d-40a3-9adb-661b1e7b96ad" providerId="ADAL" clId="{3BB61298-7EEB-5E55-9F6A-19690B42A4AC}" dt="2026-02-05T17:56:32.990" v="99" actId="1036"/>
          <ac:picMkLst>
            <pc:docMk/>
            <pc:sldMk cId="804749343" sldId="1699"/>
            <ac:picMk id="11" creationId="{7C972727-E201-C339-D2A1-1CF9CE8A274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FF70324-B614-F147-9545-E919B2C184C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0C22E-0CCA-D24B-8DEE-05B46F235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48B17D-A7B2-F241-B9B7-56A6E3D2CC25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950158-15A1-8A49-85CC-C7796CBC33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845D32-5495-5643-9041-DC0FE9E004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87D64-205C-DD41-89A5-EACD8529B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69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09F95-A309-1B4E-9984-9337166AE7E1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2B3ABF-75C7-3046-B8C6-735AFE54E4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0029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Van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Der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Aalst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 (2012).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Process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mining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Overview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it-IT" sz="1100" b="0" i="0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opportunities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ACM </a:t>
            </a:r>
            <a:r>
              <a:rPr lang="it-IT" sz="1100" b="0" i="1" u="none" strike="noStrike" cap="none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Transactions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on Management Information Systems (TMIS)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 </a:t>
            </a:r>
            <a:r>
              <a:rPr lang="it-IT" sz="1100" b="0" i="1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it-IT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(2), 1-17.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0327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05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52812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73185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7085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02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276053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7F538-D692-6925-3EC0-240B0870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2BBA6D-7169-A341-B16A-BEEF9F37D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57198-C98A-9555-557C-D25C8A330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http://www.olifantenpaadjes.nl/wp-content/uploads/2011/06/Koen-Olsthoorn.jpg</a:t>
            </a:r>
          </a:p>
        </p:txBody>
      </p:sp>
    </p:spTree>
    <p:extLst>
      <p:ext uri="{BB962C8B-B14F-4D97-AF65-F5344CB8AC3E}">
        <p14:creationId xmlns:p14="http://schemas.microsoft.com/office/powerpoint/2010/main" val="35867744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114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>http://</a:t>
            </a:r>
            <a:r>
              <a:rPr lang="it-IT" err="1"/>
              <a:t>www.olifantenpaadjes.nl</a:t>
            </a:r>
            <a:r>
              <a:rPr lang="it-IT"/>
              <a:t>/</a:t>
            </a:r>
            <a:r>
              <a:rPr lang="it-IT" err="1"/>
              <a:t>wp-content</a:t>
            </a:r>
            <a:r>
              <a:rPr lang="it-IT"/>
              <a:t>/uploads/2011/06/</a:t>
            </a:r>
            <a:r>
              <a:rPr lang="it-IT" err="1"/>
              <a:t>Koen-Olsthoorn.jpg</a:t>
            </a:r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2714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31335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6408238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5146769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700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8600" y="5867400"/>
            <a:ext cx="5156200" cy="1854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860027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918230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6252076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276485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8120002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 Light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5855747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5342149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18600" y="2019300"/>
            <a:ext cx="2616200" cy="570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70000" y="2019300"/>
            <a:ext cx="7696200" cy="570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024005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4214514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413230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5827054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8590961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426495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97861665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467730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6528233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46146465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4749294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1775" y="1270000"/>
            <a:ext cx="2638425" cy="6692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06500" y="1270000"/>
            <a:ext cx="7762875" cy="6692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22541693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43307" y="2185433"/>
            <a:ext cx="12118187" cy="64785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50244" lvl="0" indent="-487684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00489" lvl="1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950732" lvl="2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600976" lvl="3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251221" lvl="4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901465" lvl="5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551708" lvl="6" indent="-451559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201952" lvl="7" indent="-451559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852197" lvl="8" indent="-451559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4936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928748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057620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86128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7600062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9031470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14915259"/>
      </p:ext>
    </p:extLst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7257157"/>
      </p:ext>
    </p:extLst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6362166"/>
      </p:ext>
    </p:extLst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29720859"/>
      </p:ext>
    </p:extLst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34492356"/>
      </p:ext>
    </p:extLst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872933"/>
      </p:ext>
    </p:extLst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78121598"/>
      </p:ext>
    </p:extLst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6002115"/>
      </p:ext>
    </p:extLst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68635760"/>
      </p:ext>
    </p:extLst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5718913"/>
      </p:ext>
    </p:extLst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29420778"/>
      </p:ext>
    </p:extLst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9606995"/>
      </p:ext>
    </p:extLst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041422"/>
      </p:ext>
    </p:extLst>
  </p:cSld>
  <p:clrMapOvr>
    <a:masterClrMapping/>
  </p:clrMapOvr>
  <p:transition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5756525"/>
      </p:ext>
    </p:extLst>
  </p:cSld>
  <p:clrMapOvr>
    <a:masterClrMapping/>
  </p:clrMapOvr>
  <p:transition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7563503"/>
      </p:ext>
    </p:extLst>
  </p:cSld>
  <p:clrMapOvr>
    <a:masterClrMapping/>
  </p:clrMapOvr>
  <p:transition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24146573"/>
      </p:ext>
    </p:extLst>
  </p:cSld>
  <p:clrMapOvr>
    <a:masterClrMapping/>
  </p:clrMapOvr>
  <p:transition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1913837"/>
      </p:ext>
    </p:extLst>
  </p:cSld>
  <p:clrMapOvr>
    <a:masterClrMapping/>
  </p:clrMapOvr>
  <p:transition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44554617"/>
      </p:ext>
    </p:extLst>
  </p:cSld>
  <p:clrMapOvr>
    <a:masterClrMapping/>
  </p:clrMapOvr>
  <p:transition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90098394"/>
      </p:ext>
    </p:extLst>
  </p:cSld>
  <p:clrMapOvr>
    <a:masterClrMapping/>
  </p:clrMapOvr>
  <p:transition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7113" y="6267450"/>
            <a:ext cx="11053762" cy="1936750"/>
          </a:xfrm>
          <a:prstGeom prst="rect">
            <a:avLst/>
          </a:prstGeom>
        </p:spPr>
        <p:txBody>
          <a:bodyPr vert="horz"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7113" y="4133850"/>
            <a:ext cx="11053762" cy="213360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9720551"/>
      </p:ext>
    </p:extLst>
  </p:cSld>
  <p:clrMapOvr>
    <a:masterClrMapping/>
  </p:clrMapOvr>
  <p:transition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5900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2250" y="2171700"/>
            <a:ext cx="4260850" cy="5791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92810309"/>
      </p:ext>
    </p:extLst>
  </p:cSld>
  <p:clrMapOvr>
    <a:masterClrMapping/>
  </p:clrMapOvr>
  <p:transition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75" y="2182813"/>
            <a:ext cx="5745163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875" y="3092450"/>
            <a:ext cx="5745163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05588" y="2182813"/>
            <a:ext cx="5748337" cy="9096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5588" y="3092450"/>
            <a:ext cx="5748337" cy="56197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61805469"/>
      </p:ext>
    </p:extLst>
  </p:cSld>
  <p:clrMapOvr>
    <a:masterClrMapping/>
  </p:clrMapOvr>
  <p:transition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5070646"/>
      </p:ext>
    </p:extLst>
  </p:cSld>
  <p:clrMapOvr>
    <a:masterClrMapping/>
  </p:clrMapOvr>
  <p:transition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472064"/>
      </p:ext>
    </p:extLst>
  </p:cSld>
  <p:clrMapOvr>
    <a:masterClrMapping/>
  </p:clrMapOvr>
  <p:transition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88938"/>
            <a:ext cx="4278313" cy="1652587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4763" y="388938"/>
            <a:ext cx="7269162" cy="8323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0875" y="2041525"/>
            <a:ext cx="4278313" cy="6670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3236913"/>
      </p:ext>
    </p:extLst>
  </p:cSld>
  <p:clrMapOvr>
    <a:masterClrMapping/>
  </p:clrMapOvr>
  <p:transition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49525" y="6827838"/>
            <a:ext cx="7802563" cy="806450"/>
          </a:xfrm>
          <a:prstGeom prst="rect">
            <a:avLst/>
          </a:prstGeom>
        </p:spPr>
        <p:txBody>
          <a:bodyPr vert="horz"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49525" y="871538"/>
            <a:ext cx="7802563" cy="58515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Helvetica Neue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49525" y="7634288"/>
            <a:ext cx="7802563" cy="114458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0439888"/>
      </p:ext>
    </p:extLst>
  </p:cSld>
  <p:clrMapOvr>
    <a:masterClrMapping/>
  </p:clrMapOvr>
  <p:transition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625600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6927557"/>
      </p:ext>
    </p:extLst>
  </p:cSld>
  <p:clrMapOvr>
    <a:masterClrMapping/>
  </p:clrMapOvr>
  <p:transition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28163" y="390525"/>
            <a:ext cx="2925762" cy="75723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0875" y="390525"/>
            <a:ext cx="8624888" cy="7572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2721832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://creativecommons.org/licenses/by-nc-sa/3.0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hyperlink" Target="http://fluxicon.com" TargetMode="Externa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4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>
            <a:extLst>
              <a:ext uri="{FF2B5EF4-FFF2-40B4-BE49-F238E27FC236}">
                <a16:creationId xmlns:a16="http://schemas.microsoft.com/office/drawing/2014/main" id="{766CA7A1-529F-6D4C-B628-77F66F82B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70000" y="5867400"/>
            <a:ext cx="10464800" cy="185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Light" panose="020004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 Light" panose="020004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 Light" panose="020004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 Light" panose="020004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 Light" panose="02000403000000020004" pitchFamily="2" charset="0"/>
              </a:rPr>
              <a:t>Fifth level</a:t>
            </a: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F421198D-A459-AC49-A0B0-001CAB8A63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70000" y="2019300"/>
            <a:ext cx="10464800" cy="330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  <p:sp>
        <p:nvSpPr>
          <p:cNvPr id="1028" name="Freeform 3">
            <a:extLst>
              <a:ext uri="{FF2B5EF4-FFF2-40B4-BE49-F238E27FC236}">
                <a16:creationId xmlns:a16="http://schemas.microsoft.com/office/drawing/2014/main" id="{22063220-318C-6C4B-8718-0DD3ADE2E857}"/>
              </a:ext>
            </a:extLst>
          </p:cNvPr>
          <p:cNvSpPr>
            <a:spLocks/>
          </p:cNvSpPr>
          <p:nvPr/>
        </p:nvSpPr>
        <p:spPr bwMode="auto">
          <a:xfrm>
            <a:off x="4178300" y="-889000"/>
            <a:ext cx="13233400" cy="2921000"/>
          </a:xfrm>
          <a:custGeom>
            <a:avLst/>
            <a:gdLst>
              <a:gd name="T0" fmla="*/ 0 w 21600"/>
              <a:gd name="T1" fmla="*/ 0 h 21600"/>
              <a:gd name="T2" fmla="*/ 3539322 w 21600"/>
              <a:gd name="T3" fmla="*/ 2921000 h 21600"/>
              <a:gd name="T4" fmla="*/ 13233400 w 21600"/>
              <a:gd name="T5" fmla="*/ 2921000 h 21600"/>
              <a:gd name="T6" fmla="*/ 1323340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5777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  <a:moveTo>
                  <a:pt x="0" y="0"/>
                </a:moveTo>
              </a:path>
            </a:pathLst>
          </a:custGeom>
          <a:gradFill rotWithShape="0">
            <a:gsLst>
              <a:gs pos="0">
                <a:srgbClr val="FDB20A"/>
              </a:gs>
              <a:gs pos="100000">
                <a:srgbClr val="FDC42D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38100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57EAB2F1-5B07-5644-B0F5-F439A33E4B3B}"/>
              </a:ext>
            </a:extLst>
          </p:cNvPr>
          <p:cNvSpPr>
            <a:spLocks/>
          </p:cNvSpPr>
          <p:nvPr/>
        </p:nvSpPr>
        <p:spPr bwMode="auto">
          <a:xfrm>
            <a:off x="0" y="9334500"/>
            <a:ext cx="13004800" cy="533400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>
            <a:lvl1pPr marL="24161750" indent="-24161750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marL="0" lvl="1" eaLnBrk="1" hangingPunct="1">
              <a:defRPr/>
            </a:pPr>
            <a:r>
              <a:rPr lang="en-US" altLang="en-IT" sz="20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       Copyright © 2013 Fluxicon</a:t>
            </a:r>
          </a:p>
        </p:txBody>
      </p:sp>
      <p:pic>
        <p:nvPicPr>
          <p:cNvPr id="1030" name="Picture 6">
            <a:hlinkClick r:id="rId13"/>
            <a:extLst>
              <a:ext uri="{FF2B5EF4-FFF2-40B4-BE49-F238E27FC236}">
                <a16:creationId xmlns:a16="http://schemas.microsoft.com/office/drawing/2014/main" id="{0B4DE286-E7D8-614C-9C5D-6C2926AFF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2850" y="9372600"/>
            <a:ext cx="1009650" cy="35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1" name="Picture 9" descr="fluxicon_logo_vector.pdf">
            <a:hlinkClick r:id="rId15"/>
            <a:extLst>
              <a:ext uri="{FF2B5EF4-FFF2-40B4-BE49-F238E27FC236}">
                <a16:creationId xmlns:a16="http://schemas.microsoft.com/office/drawing/2014/main" id="{CE5989BF-D8A3-B34A-B757-7CD171B7ED64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4000" y="609600"/>
            <a:ext cx="4821238" cy="971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8000">
          <a:solidFill>
            <a:srgbClr val="343434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1pPr>
      <a:lvl2pPr marL="742950" indent="-28575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2pPr>
      <a:lvl3pPr marL="11430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3pPr>
      <a:lvl4pPr marL="16002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4pPr>
      <a:lvl5pPr marL="2057400" indent="-228600" algn="l" rtl="0" eaLnBrk="0" fontAlgn="base" hangingPunct="0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panose="02000403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400">
          <a:solidFill>
            <a:srgbClr val="676767"/>
          </a:solidFill>
          <a:latin typeface="+mn-lt"/>
          <a:ea typeface="+mn-ea"/>
          <a:cs typeface="+mn-cs"/>
          <a:sym typeface="Helvetica Neue Light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1">
            <a:extLst>
              <a:ext uri="{FF2B5EF4-FFF2-40B4-BE49-F238E27FC236}">
                <a16:creationId xmlns:a16="http://schemas.microsoft.com/office/drawing/2014/main" id="{DB21B0EB-7F72-D340-AC44-55B22BAD8F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2051" name="Picture 2">
            <a:extLst>
              <a:ext uri="{FF2B5EF4-FFF2-40B4-BE49-F238E27FC236}">
                <a16:creationId xmlns:a16="http://schemas.microsoft.com/office/drawing/2014/main" id="{0249AEC3-5765-1F4A-948F-7DAD3B4B0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2" name="Rectangle 3">
            <a:extLst>
              <a:ext uri="{FF2B5EF4-FFF2-40B4-BE49-F238E27FC236}">
                <a16:creationId xmlns:a16="http://schemas.microsoft.com/office/drawing/2014/main" id="{809716FB-59AA-614B-957C-43F8388AE3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 UltraLight" panose="02000206000000020004" pitchFamily="2" charset="0"/>
              </a:rPr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708" r:id="rId12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93A408A3-CD53-8240-87EE-8B13093771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3075" name="Picture 2">
            <a:extLst>
              <a:ext uri="{FF2B5EF4-FFF2-40B4-BE49-F238E27FC236}">
                <a16:creationId xmlns:a16="http://schemas.microsoft.com/office/drawing/2014/main" id="{4D37C31C-FAEB-5641-9BE0-B95C27709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1788" y="481013"/>
            <a:ext cx="208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6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4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panose="02000503000000020004" pitchFamily="2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343434"/>
        </a:buClr>
        <a:buSzPct val="125000"/>
        <a:buFont typeface="Helvetica Neue" charset="0"/>
        <a:buChar char="•"/>
        <a:defRPr sz="3200">
          <a:solidFill>
            <a:srgbClr val="343434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47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">
            <a:extLst>
              <a:ext uri="{FF2B5EF4-FFF2-40B4-BE49-F238E27FC236}">
                <a16:creationId xmlns:a16="http://schemas.microsoft.com/office/drawing/2014/main" id="{73496898-6F50-D84D-A133-CD5C9D1B6E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4099" name="Picture 2">
            <a:extLst>
              <a:ext uri="{FF2B5EF4-FFF2-40B4-BE49-F238E27FC236}">
                <a16:creationId xmlns:a16="http://schemas.microsoft.com/office/drawing/2014/main" id="{ED784239-3921-7A45-9DD4-1D3B0323C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543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A25A1D80-9B50-0249-B23A-064D089802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159000" y="2171700"/>
            <a:ext cx="8674100" cy="579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8100" tIns="38100" rIns="38100" bIns="381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IT">
                <a:sym typeface="Helvetica Neue" panose="02000503000000020004" pitchFamily="2" charset="0"/>
              </a:rPr>
              <a:t>Click to edit Master text styles</a:t>
            </a:r>
          </a:p>
          <a:p>
            <a:pPr lvl="1"/>
            <a:r>
              <a:rPr lang="en-US" altLang="en-IT">
                <a:sym typeface="Helvetica Neue" panose="02000503000000020004" pitchFamily="2" charset="0"/>
              </a:rPr>
              <a:t>Second level</a:t>
            </a:r>
          </a:p>
          <a:p>
            <a:pPr lvl="2"/>
            <a:r>
              <a:rPr lang="en-US" altLang="en-IT">
                <a:sym typeface="Helvetica Neue" panose="02000503000000020004" pitchFamily="2" charset="0"/>
              </a:rPr>
              <a:t>Third level</a:t>
            </a:r>
          </a:p>
          <a:p>
            <a:pPr lvl="3"/>
            <a:r>
              <a:rPr lang="en-US" altLang="en-IT">
                <a:sym typeface="Helvetica Neue" panose="02000503000000020004" pitchFamily="2" charset="0"/>
              </a:rPr>
              <a:t>Fourth level</a:t>
            </a:r>
          </a:p>
          <a:p>
            <a:pPr lvl="4"/>
            <a:r>
              <a:rPr lang="en-US" altLang="en-IT">
                <a:sym typeface="Helvetica Neue" panose="02000503000000020004" pitchFamily="2" charset="0"/>
              </a:rPr>
              <a:t>Fifth level</a:t>
            </a:r>
          </a:p>
        </p:txBody>
      </p:sp>
      <p:pic>
        <p:nvPicPr>
          <p:cNvPr id="5123" name="Picture 2">
            <a:extLst>
              <a:ext uri="{FF2B5EF4-FFF2-40B4-BE49-F238E27FC236}">
                <a16:creationId xmlns:a16="http://schemas.microsoft.com/office/drawing/2014/main" id="{55EED142-C640-F74B-9D2E-AFD82C34A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738" y="477838"/>
            <a:ext cx="2087562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30196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+mj-lt"/>
          <a:ea typeface="+mj-ea"/>
          <a:cs typeface="+mj-cs"/>
          <a:sym typeface="Helvetica Neue UltraLight" panose="02000206000000020004" pitchFamily="2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panose="02000206000000020004" pitchFamily="2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7000">
          <a:solidFill>
            <a:srgbClr val="4D4D4D"/>
          </a:solidFill>
          <a:latin typeface="Helvetica Neue UltraLight" charset="0"/>
          <a:ea typeface="ヒラギノ角ゴ ProN W3" charset="-128"/>
          <a:cs typeface="ヒラギノ角ゴ ProN W3" charset="-128"/>
          <a:sym typeface="Helvetica Neue UltraLight" charset="0"/>
        </a:defRPr>
      </a:lvl9pPr>
    </p:titleStyle>
    <p:bodyStyle>
      <a:lvl1pPr marL="342900" indent="-342900" algn="l" rtl="0" eaLnBrk="0" fontAlgn="base" hangingPunct="0">
        <a:spcBef>
          <a:spcPts val="2300"/>
        </a:spcBef>
        <a:spcAft>
          <a:spcPct val="0"/>
        </a:spcAft>
        <a:defRPr sz="4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1pPr>
      <a:lvl2pPr marL="596900" indent="-444500" algn="l" rtl="0" eaLnBrk="0" fontAlgn="base" hangingPunct="0">
        <a:spcBef>
          <a:spcPts val="1800"/>
        </a:spcBef>
        <a:spcAft>
          <a:spcPct val="0"/>
        </a:spcAft>
        <a:buSzPct val="125000"/>
        <a:buFont typeface="Helvetica Neue" panose="02000503000000020004" pitchFamily="2" charset="0"/>
        <a:buChar char="•"/>
        <a:defRPr sz="40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2pPr>
      <a:lvl3pPr marL="1066800" indent="-444500" algn="l" rtl="0" eaLnBrk="0" fontAlgn="base" hangingPunct="0">
        <a:spcBef>
          <a:spcPts val="15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6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3pPr>
      <a:lvl4pPr marL="1536700" indent="-444500" algn="l" rtl="0" eaLnBrk="0" fontAlgn="base" hangingPunct="0">
        <a:spcBef>
          <a:spcPts val="13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4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4pPr>
      <a:lvl5pPr marL="1968500" indent="-444500" algn="l" rtl="0" eaLnBrk="0" fontAlgn="base" hangingPunct="0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panose="02000503000000020004" pitchFamily="2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panose="02000503000000020004" pitchFamily="2" charset="0"/>
        </a:defRPr>
      </a:lvl5pPr>
      <a:lvl6pPr marL="24257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6pPr>
      <a:lvl7pPr marL="28829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7pPr>
      <a:lvl8pPr marL="33401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8pPr>
      <a:lvl9pPr marL="3797300" indent="-444500" algn="l" rtl="0" fontAlgn="base">
        <a:spcBef>
          <a:spcPts val="1000"/>
        </a:spcBef>
        <a:spcAft>
          <a:spcPct val="0"/>
        </a:spcAft>
        <a:buClr>
          <a:srgbClr val="FFFFFF"/>
        </a:buClr>
        <a:buSzPct val="125000"/>
        <a:buFont typeface="Helvetica Neue" charset="0"/>
        <a:buChar char="•"/>
        <a:defRPr sz="3200">
          <a:solidFill>
            <a:srgbClr val="FFFFFF"/>
          </a:solidFill>
          <a:latin typeface="+mn-lt"/>
          <a:ea typeface="+mn-ea"/>
          <a:cs typeface="+mn-cs"/>
          <a:sym typeface="Helvetica Neue" charset="0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.jpeg"/><Relationship Id="rId4" Type="http://schemas.openxmlformats.org/officeDocument/2006/relationships/hyperlink" Target="http://www.olifantenpaadjes.nl/wp-content/uploads/2011/06/Koen-Olsthoorn.jp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3.png"/><Relationship Id="rId4" Type="http://schemas.openxmlformats.org/officeDocument/2006/relationships/image" Target="../media/image14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371/journal.pone.0339788" TargetMode="External"/><Relationship Id="rId3" Type="http://schemas.openxmlformats.org/officeDocument/2006/relationships/hyperlink" Target="http://www.olifantenpaadjes.nl/wp-content/uploads/2011/06/Koen-Olsthoorn.jpg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0.png"/><Relationship Id="rId5" Type="http://schemas.openxmlformats.org/officeDocument/2006/relationships/image" Target="../media/image19.emf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olifantenpaadjes.nl/wp-content/uploads/2011/06/Koen-Olsthoorn.jp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e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EMbeDS-education/StatsAndComputing20212022/raw/main/PDA/slides/processMining/PurchasingExample.csv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://fluxicon.com/disco/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4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1">
            <a:extLst>
              <a:ext uri="{FF2B5EF4-FFF2-40B4-BE49-F238E27FC236}">
                <a16:creationId xmlns:a16="http://schemas.microsoft.com/office/drawing/2014/main" id="{5BBF595C-5A16-0C4E-8925-6F41DBC6ED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solidFill>
                  <a:srgbClr val="333333"/>
                </a:solidFill>
              </a:rPr>
              <a:t>Process Mining Tutorial </a:t>
            </a:r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1D10C97C-310C-2D4B-8785-F3304B3B31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6667500"/>
            <a:ext cx="7380288" cy="2006600"/>
          </a:xfrm>
        </p:spPr>
        <p:txBody>
          <a:bodyPr/>
          <a:lstStyle/>
          <a:p>
            <a:pPr marL="0" indent="0" eaLnBrk="1" hangingPunct="1"/>
            <a:r>
              <a:rPr lang="en-IT" altLang="en-IT" sz="3000" dirty="0"/>
              <a:t>Adapted from </a:t>
            </a:r>
            <a:r>
              <a:rPr lang="en-GB" altLang="en-IT" sz="3000" dirty="0" err="1"/>
              <a:t>fluxicon.com</a:t>
            </a:r>
            <a:r>
              <a:rPr lang="en-GB" altLang="en-IT" sz="3000" dirty="0"/>
              <a:t>/academic/material/</a:t>
            </a:r>
            <a:endParaRPr lang="en-IT" altLang="en-IT" sz="3000" dirty="0"/>
          </a:p>
          <a:p>
            <a:pPr marL="0" indent="0" eaLnBrk="1" hangingPunct="1"/>
            <a:endParaRPr lang="en-IT" altLang="en-IT" sz="3000" dirty="0"/>
          </a:p>
          <a:p>
            <a:pPr marL="0" indent="0" eaLnBrk="1" hangingPunct="1"/>
            <a:r>
              <a:rPr lang="en-IT" altLang="en-IT" sz="3000" dirty="0"/>
              <a:t>Edited by Andrea Vandin, SSSA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1">
            <a:extLst>
              <a:ext uri="{FF2B5EF4-FFF2-40B4-BE49-F238E27FC236}">
                <a16:creationId xmlns:a16="http://schemas.microsoft.com/office/drawing/2014/main" id="{14B057D7-5745-5B4D-B4D6-41B5362CB7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Goals of this tutorial </a:t>
            </a:r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3A73F72B-766B-5142-9FB8-C596F6229F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225800"/>
            <a:ext cx="10769600" cy="5638800"/>
          </a:xfrm>
        </p:spPr>
        <p:txBody>
          <a:bodyPr/>
          <a:lstStyle/>
          <a:p>
            <a:pPr marL="698500" indent="-444500" eaLnBrk="1" hangingPunct="1">
              <a:lnSpc>
                <a:spcPct val="80000"/>
              </a:lnSpc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Understand the phases of </a:t>
            </a:r>
            <a:r>
              <a:rPr lang="en-US" altLang="en-IT" sz="4000" b="1">
                <a:solidFill>
                  <a:srgbClr val="FF0000"/>
                </a:solidFill>
              </a:rPr>
              <a:t>process mining</a:t>
            </a:r>
            <a:r>
              <a:rPr lang="en-US" altLang="en-IT" sz="4000">
                <a:solidFill>
                  <a:schemeClr val="tx1"/>
                </a:solidFill>
              </a:rPr>
              <a:t> analysis</a:t>
            </a:r>
          </a:p>
          <a:p>
            <a:pPr marL="698500" indent="-444500" eaLnBrk="1" hangingPunct="1">
              <a:lnSpc>
                <a:spcPct val="80000"/>
              </a:lnSpc>
              <a:spcBef>
                <a:spcPts val="4100"/>
              </a:spcBef>
              <a:buClr>
                <a:srgbClr val="000000"/>
              </a:buClr>
              <a:buFont typeface="Helvetica Neue Light" panose="02000403000000020004" pitchFamily="2" charset="0"/>
              <a:buChar char="•"/>
            </a:pPr>
            <a:r>
              <a:rPr lang="en-US" altLang="en-IT" sz="4000">
                <a:solidFill>
                  <a:schemeClr val="tx1"/>
                </a:solidFill>
              </a:rPr>
              <a:t>Be able to </a:t>
            </a:r>
            <a:r>
              <a:rPr lang="en-US" altLang="en-IT" sz="4000" b="1">
                <a:solidFill>
                  <a:srgbClr val="FF0000"/>
                </a:solidFill>
              </a:rPr>
              <a:t>get started and play</a:t>
            </a:r>
            <a:r>
              <a:rPr lang="en-US" altLang="en-IT" sz="4000">
                <a:solidFill>
                  <a:schemeClr val="tx1"/>
                </a:solidFill>
              </a:rPr>
              <a:t> around with your own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2A8B4F-9993-AE42-B926-CED149F4A95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b="1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76E5E4-68AF-6849-BE08-45072573F02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B6D8-3255-8143-9231-789321F0D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Mining</a:t>
            </a:r>
            <a:r>
              <a:rPr lang="it-IT" dirty="0"/>
              <a:t>?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904A7-A7DD-FB4A-930D-851FAF092161}"/>
              </a:ext>
            </a:extLst>
          </p:cNvPr>
          <p:cNvSpPr txBox="1"/>
          <p:nvPr/>
        </p:nvSpPr>
        <p:spPr>
          <a:xfrm>
            <a:off x="633351" y="2068488"/>
            <a:ext cx="4712129" cy="2727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 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b="1" dirty="0"/>
              <a:t>a family of </a:t>
            </a:r>
            <a:r>
              <a:rPr lang="it-IT" sz="2000" b="1" dirty="0" err="1"/>
              <a:t>techniques</a:t>
            </a:r>
            <a:r>
              <a:rPr lang="it-IT" sz="2000" b="1" dirty="0"/>
              <a:t> </a:t>
            </a:r>
            <a:r>
              <a:rPr lang="it-IT" sz="2000" b="1" dirty="0" err="1"/>
              <a:t>linking</a:t>
            </a:r>
            <a:r>
              <a:rPr lang="it-IT" sz="2000" b="1" dirty="0"/>
              <a:t> data science and </a:t>
            </a:r>
            <a:r>
              <a:rPr lang="it-IT" sz="2000" b="1" dirty="0" err="1"/>
              <a:t>process</a:t>
            </a:r>
            <a:r>
              <a:rPr lang="it-IT" sz="2000" b="1" dirty="0"/>
              <a:t> management to </a:t>
            </a:r>
            <a:r>
              <a:rPr lang="it-IT" sz="2000" b="1" dirty="0" err="1"/>
              <a:t>support</a:t>
            </a:r>
            <a:r>
              <a:rPr lang="it-IT" sz="2000" b="1" dirty="0"/>
              <a:t> the </a:t>
            </a:r>
            <a:r>
              <a:rPr lang="it-IT" sz="2000" b="1" dirty="0" err="1"/>
              <a:t>analysis</a:t>
            </a:r>
            <a:r>
              <a:rPr lang="it-IT" sz="2000" b="1" dirty="0"/>
              <a:t> of </a:t>
            </a:r>
            <a:r>
              <a:rPr lang="it-IT" sz="2000" b="1" dirty="0" err="1"/>
              <a:t>operational</a:t>
            </a:r>
            <a:r>
              <a:rPr lang="it-IT" sz="2000" b="1" dirty="0"/>
              <a:t> </a:t>
            </a:r>
            <a:r>
              <a:rPr lang="it-IT" sz="2000" b="1" dirty="0" err="1"/>
              <a:t>processes</a:t>
            </a:r>
            <a:r>
              <a:rPr lang="it-IT" sz="2000" b="1" dirty="0"/>
              <a:t> </a:t>
            </a:r>
            <a:r>
              <a:rPr lang="it-IT" sz="2000" b="1" dirty="0" err="1"/>
              <a:t>based</a:t>
            </a:r>
            <a:r>
              <a:rPr lang="it-IT" sz="2000" b="1" dirty="0"/>
              <a:t> on </a:t>
            </a:r>
            <a:r>
              <a:rPr lang="it-IT" sz="2000" b="1" dirty="0" err="1"/>
              <a:t>event</a:t>
            </a:r>
            <a:r>
              <a:rPr lang="it-IT" sz="2000" b="1" dirty="0"/>
              <a:t> </a:t>
            </a:r>
            <a:r>
              <a:rPr lang="it-IT" sz="2000" b="1" dirty="0" err="1"/>
              <a:t>logs</a:t>
            </a:r>
            <a:r>
              <a:rPr lang="it-IT" sz="2000" b="1" dirty="0"/>
              <a:t>. </a:t>
            </a:r>
          </a:p>
          <a:p>
            <a:endParaRPr lang="it-IT" sz="1707" dirty="0"/>
          </a:p>
          <a:p>
            <a:endParaRPr lang="it-IT" sz="1707" dirty="0"/>
          </a:p>
          <a:p>
            <a:endParaRPr lang="it-IT" sz="1707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BB4079-B1B1-5248-AF61-27844058B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454" y="1865221"/>
            <a:ext cx="7192346" cy="575715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BA04D53-CEDB-044D-A3AB-353CD0206B07}"/>
              </a:ext>
            </a:extLst>
          </p:cNvPr>
          <p:cNvSpPr/>
          <p:nvPr/>
        </p:nvSpPr>
        <p:spPr>
          <a:xfrm>
            <a:off x="443307" y="8417386"/>
            <a:ext cx="1218566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Van </a:t>
            </a:r>
            <a:r>
              <a:rPr lang="it-IT" sz="2000" dirty="0" err="1"/>
              <a:t>Der</a:t>
            </a:r>
            <a:r>
              <a:rPr lang="it-IT" sz="2000" dirty="0"/>
              <a:t> </a:t>
            </a:r>
            <a:r>
              <a:rPr lang="it-IT" sz="2000" dirty="0" err="1"/>
              <a:t>Aalst</a:t>
            </a:r>
            <a:r>
              <a:rPr lang="it-IT" sz="2000" dirty="0"/>
              <a:t>, </a:t>
            </a:r>
            <a:r>
              <a:rPr lang="it-IT" sz="2000" dirty="0" err="1"/>
              <a:t>W</a:t>
            </a:r>
            <a:r>
              <a:rPr lang="it-IT" sz="2000" dirty="0"/>
              <a:t>., et al. (2011, August). </a:t>
            </a:r>
          </a:p>
          <a:p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manifesto. In </a:t>
            </a:r>
            <a:r>
              <a:rPr lang="it-IT" sz="2000" i="1" dirty="0"/>
              <a:t>International Conference on Business </a:t>
            </a:r>
            <a:r>
              <a:rPr lang="it-IT" sz="2000" i="1" dirty="0" err="1"/>
              <a:t>Process</a:t>
            </a:r>
            <a:r>
              <a:rPr lang="it-IT" sz="2000" i="1" dirty="0"/>
              <a:t> Management</a:t>
            </a:r>
            <a:r>
              <a:rPr lang="it-IT" sz="2000" dirty="0"/>
              <a:t> (pp. 169-194). </a:t>
            </a:r>
            <a:r>
              <a:rPr lang="it-IT" sz="2000" dirty="0" err="1"/>
              <a:t>Springer</a:t>
            </a:r>
            <a:endParaRPr lang="it-IT" sz="2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6B64E6-7E2C-7F49-A47F-E7C3C1E2813C}"/>
              </a:ext>
            </a:extLst>
          </p:cNvPr>
          <p:cNvSpPr/>
          <p:nvPr/>
        </p:nvSpPr>
        <p:spPr>
          <a:xfrm>
            <a:off x="633350" y="4156720"/>
            <a:ext cx="428353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The goal of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to turn </a:t>
            </a:r>
            <a:r>
              <a:rPr lang="it-IT" sz="2000" dirty="0" err="1"/>
              <a:t>event</a:t>
            </a:r>
            <a:r>
              <a:rPr lang="it-IT" sz="2000" dirty="0"/>
              <a:t> data </a:t>
            </a:r>
            <a:r>
              <a:rPr lang="it-IT" sz="2000" dirty="0" err="1"/>
              <a:t>into</a:t>
            </a:r>
            <a:r>
              <a:rPr lang="it-IT" sz="2000" dirty="0"/>
              <a:t> </a:t>
            </a:r>
            <a:r>
              <a:rPr lang="it-IT" sz="2000" dirty="0" err="1"/>
              <a:t>insights</a:t>
            </a:r>
            <a:r>
              <a:rPr lang="it-IT" sz="2000" dirty="0"/>
              <a:t> and </a:t>
            </a:r>
            <a:r>
              <a:rPr lang="it-IT" sz="2000" dirty="0" err="1"/>
              <a:t>actions</a:t>
            </a:r>
            <a:r>
              <a:rPr lang="it-IT" sz="2000" dirty="0"/>
              <a:t>. </a:t>
            </a:r>
            <a:r>
              <a:rPr lang="it-IT" sz="2000" dirty="0" err="1"/>
              <a:t>Process</a:t>
            </a:r>
            <a:r>
              <a:rPr lang="it-IT" sz="2000" dirty="0"/>
              <a:t> </a:t>
            </a:r>
            <a:r>
              <a:rPr lang="it-IT" sz="2000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an </a:t>
            </a:r>
            <a:r>
              <a:rPr lang="it-IT" sz="2000" dirty="0" err="1"/>
              <a:t>integral</a:t>
            </a:r>
            <a:r>
              <a:rPr lang="it-IT" sz="2000" dirty="0"/>
              <a:t> part of data science, </a:t>
            </a:r>
            <a:r>
              <a:rPr lang="it-IT" sz="2000" dirty="0" err="1"/>
              <a:t>fueled</a:t>
            </a:r>
            <a:r>
              <a:rPr lang="it-IT" sz="2000" dirty="0"/>
              <a:t> by the </a:t>
            </a:r>
            <a:r>
              <a:rPr lang="it-IT" sz="2000" dirty="0" err="1"/>
              <a:t>availability</a:t>
            </a:r>
            <a:r>
              <a:rPr lang="it-IT" sz="2000" dirty="0"/>
              <a:t> of data and the desire to </a:t>
            </a:r>
            <a:r>
              <a:rPr lang="it-IT" sz="2000" dirty="0" err="1"/>
              <a:t>improve</a:t>
            </a:r>
            <a:r>
              <a:rPr lang="it-IT" sz="2000" dirty="0"/>
              <a:t> </a:t>
            </a:r>
            <a:r>
              <a:rPr lang="it-IT" sz="2000" dirty="0" err="1"/>
              <a:t>processes</a:t>
            </a:r>
            <a:r>
              <a:rPr lang="it-IT" sz="2000" dirty="0"/>
              <a:t>.</a:t>
            </a:r>
          </a:p>
          <a:p>
            <a:endParaRPr lang="it-IT" sz="20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08CB6D-C762-444C-8F77-4E05304E5060}"/>
              </a:ext>
            </a:extLst>
          </p:cNvPr>
          <p:cNvSpPr/>
          <p:nvPr/>
        </p:nvSpPr>
        <p:spPr>
          <a:xfrm>
            <a:off x="633351" y="6433681"/>
            <a:ext cx="417664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000" dirty="0"/>
              <a:t>E.g., </a:t>
            </a:r>
            <a:r>
              <a:rPr lang="it-IT" sz="2000" i="1" dirty="0" err="1"/>
              <a:t>process</a:t>
            </a:r>
            <a:r>
              <a:rPr lang="it-IT" sz="2000" i="1" dirty="0"/>
              <a:t> </a:t>
            </a:r>
            <a:r>
              <a:rPr lang="it-IT" sz="2000" i="1" dirty="0" err="1"/>
              <a:t>mining</a:t>
            </a:r>
            <a:r>
              <a:rPr lang="it-IT" sz="2000" dirty="0"/>
              <a:t> </a:t>
            </a:r>
            <a:r>
              <a:rPr lang="it-IT" sz="2000" dirty="0" err="1"/>
              <a:t>uses</a:t>
            </a:r>
            <a:r>
              <a:rPr lang="it-IT" sz="2000" dirty="0"/>
              <a:t> </a:t>
            </a:r>
            <a:r>
              <a:rPr lang="it-IT" sz="2000" dirty="0" err="1"/>
              <a:t>event</a:t>
            </a:r>
            <a:r>
              <a:rPr lang="it-IT" sz="2000" dirty="0"/>
              <a:t> data to </a:t>
            </a:r>
            <a:r>
              <a:rPr lang="it-IT" sz="2000" dirty="0" err="1"/>
              <a:t>automatically</a:t>
            </a:r>
            <a:r>
              <a:rPr lang="it-IT" sz="2000" dirty="0"/>
              <a:t> </a:t>
            </a:r>
            <a:r>
              <a:rPr lang="it-IT" sz="2000" i="1" dirty="0" err="1"/>
              <a:t>discover</a:t>
            </a:r>
            <a:r>
              <a:rPr lang="it-IT" sz="2000" i="1" dirty="0"/>
              <a:t> </a:t>
            </a:r>
            <a:r>
              <a:rPr lang="it-IT" sz="2000" dirty="0"/>
              <a:t>a </a:t>
            </a:r>
            <a:r>
              <a:rPr lang="it-IT" sz="2000" dirty="0" err="1"/>
              <a:t>process</a:t>
            </a:r>
            <a:r>
              <a:rPr lang="it-IT" sz="2000" dirty="0"/>
              <a:t> model by </a:t>
            </a:r>
            <a:r>
              <a:rPr lang="it-IT" sz="2000" dirty="0" err="1"/>
              <a:t>observing</a:t>
            </a:r>
            <a:r>
              <a:rPr lang="it-IT" sz="2000" dirty="0"/>
              <a:t> </a:t>
            </a:r>
            <a:r>
              <a:rPr lang="it-IT" sz="2000" dirty="0" err="1"/>
              <a:t>events</a:t>
            </a:r>
            <a:r>
              <a:rPr lang="it-IT" sz="2000" dirty="0"/>
              <a:t> </a:t>
            </a:r>
            <a:r>
              <a:rPr lang="it-IT" sz="2000" dirty="0" err="1"/>
              <a:t>recorded</a:t>
            </a:r>
            <a:r>
              <a:rPr lang="it-IT" sz="2000" dirty="0"/>
              <a:t> by some </a:t>
            </a:r>
            <a:r>
              <a:rPr lang="it-IT" sz="2000" dirty="0" err="1"/>
              <a:t>enterprise</a:t>
            </a:r>
            <a:r>
              <a:rPr lang="it-IT" sz="2000" dirty="0"/>
              <a:t> </a:t>
            </a:r>
            <a:r>
              <a:rPr lang="it-IT" sz="2000" dirty="0" err="1"/>
              <a:t>system</a:t>
            </a:r>
            <a:r>
              <a:rPr lang="it-IT" sz="2000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39EB46-880B-C341-8EFE-6FFA2143BC1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C02D5-DB93-4145-BF0A-D77E4D155C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486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46A1C56-F8E3-AF4F-B467-DDBBB3D0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FB35E3-D3D3-0345-973D-1D486337C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297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5A127E4-71A9-FC4E-8A8A-EC3831251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7" y="2666632"/>
            <a:ext cx="7823692" cy="58677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39C812-29A2-6B4E-8A66-0533AE99E180}"/>
              </a:ext>
            </a:extLst>
          </p:cNvPr>
          <p:cNvSpPr txBox="1"/>
          <p:nvPr/>
        </p:nvSpPr>
        <p:spPr>
          <a:xfrm>
            <a:off x="8611289" y="3591590"/>
            <a:ext cx="3605915" cy="3637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3840" dirty="0"/>
              <a:t>With PM </a:t>
            </a:r>
            <a:r>
              <a:rPr lang="it-IT" sz="3840" dirty="0" err="1"/>
              <a:t>we</a:t>
            </a:r>
            <a:r>
              <a:rPr lang="it-IT" sz="3840" dirty="0"/>
              <a:t> can </a:t>
            </a:r>
            <a:r>
              <a:rPr lang="it-IT" sz="3840" dirty="0" err="1"/>
              <a:t>find</a:t>
            </a:r>
            <a:r>
              <a:rPr lang="it-IT" sz="3840" dirty="0"/>
              <a:t> the </a:t>
            </a:r>
            <a:r>
              <a:rPr lang="it-IT" sz="3840" dirty="0" err="1"/>
              <a:t>actual</a:t>
            </a:r>
            <a:r>
              <a:rPr lang="it-IT" sz="3840" dirty="0"/>
              <a:t> </a:t>
            </a:r>
            <a:r>
              <a:rPr lang="it-IT" sz="3840" dirty="0" err="1"/>
              <a:t>process</a:t>
            </a:r>
            <a:r>
              <a:rPr lang="it-IT" sz="3840" dirty="0"/>
              <a:t> </a:t>
            </a:r>
            <a:r>
              <a:rPr lang="it-IT" sz="3840" dirty="0" err="1"/>
              <a:t>is</a:t>
            </a:r>
            <a:r>
              <a:rPr lang="it-IT" sz="3840" dirty="0"/>
              <a:t> </a:t>
            </a:r>
            <a:r>
              <a:rPr lang="it-IT" sz="3840" dirty="0" err="1"/>
              <a:t>different</a:t>
            </a:r>
            <a:r>
              <a:rPr lang="it-IT" sz="3840" dirty="0"/>
              <a:t> from the </a:t>
            </a:r>
            <a:r>
              <a:rPr lang="it-IT" sz="3840" dirty="0" err="1"/>
              <a:t>one</a:t>
            </a:r>
            <a:r>
              <a:rPr lang="it-IT" sz="3840" dirty="0"/>
              <a:t> </a:t>
            </a:r>
            <a:r>
              <a:rPr lang="it-IT" sz="3840" dirty="0" err="1"/>
              <a:t>we</a:t>
            </a:r>
            <a:r>
              <a:rPr lang="it-IT" sz="3840" dirty="0"/>
              <a:t> </a:t>
            </a:r>
            <a:r>
              <a:rPr lang="it-IT" sz="3840" dirty="0" err="1"/>
              <a:t>designed</a:t>
            </a:r>
            <a:r>
              <a:rPr lang="it-IT" sz="3840" dirty="0"/>
              <a:t>!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0976379-FA6A-9640-9C67-B33074066B0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253928" y="5600516"/>
            <a:ext cx="1944216" cy="3590240"/>
          </a:xfrm>
          <a:prstGeom prst="straightConnector1">
            <a:avLst/>
          </a:prstGeom>
          <a:blipFill dpi="0" rotWithShape="0">
            <a:blip r:embed="rId5"/>
            <a:srcRect/>
            <a:tile tx="0" ty="0" sx="100000" sy="100000" flip="none" algn="tl"/>
          </a:blipFill>
          <a:ln w="508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1980E0E-1C71-1D48-92A2-B70C1B954184}"/>
              </a:ext>
            </a:extLst>
          </p:cNvPr>
          <p:cNvSpPr/>
          <p:nvPr/>
        </p:nvSpPr>
        <p:spPr>
          <a:xfrm>
            <a:off x="4198144" y="8836813"/>
            <a:ext cx="729340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traces</a:t>
            </a:r>
            <a:r>
              <a:rPr lang="it-IT" dirty="0"/>
              <a:t> are the </a:t>
            </a:r>
            <a:r>
              <a:rPr lang="it-IT" dirty="0" err="1"/>
              <a:t>process</a:t>
            </a:r>
            <a:r>
              <a:rPr lang="it-IT" dirty="0"/>
              <a:t> </a:t>
            </a:r>
            <a:r>
              <a:rPr lang="it-IT" dirty="0" err="1"/>
              <a:t>logs</a:t>
            </a:r>
            <a:r>
              <a:rPr lang="it-IT" dirty="0"/>
              <a:t>…</a:t>
            </a:r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5400" dirty="0" err="1"/>
              <a:t>What</a:t>
            </a:r>
            <a:r>
              <a:rPr lang="it-IT" sz="5400" dirty="0"/>
              <a:t> can </a:t>
            </a:r>
            <a:r>
              <a:rPr lang="it-IT" sz="5400" dirty="0" err="1"/>
              <a:t>we</a:t>
            </a:r>
            <a:r>
              <a:rPr lang="it-IT" sz="5400" dirty="0"/>
              <a:t> do with </a:t>
            </a:r>
            <a:r>
              <a:rPr lang="it-IT" sz="5400" dirty="0" err="1"/>
              <a:t>Process</a:t>
            </a:r>
            <a:r>
              <a:rPr lang="it-IT" sz="5400" dirty="0"/>
              <a:t> </a:t>
            </a:r>
            <a:r>
              <a:rPr lang="it-IT" sz="5400" dirty="0" err="1"/>
              <a:t>Mining</a:t>
            </a:r>
            <a:r>
              <a:rPr lang="it-IT" sz="5400" dirty="0"/>
              <a:t>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9AD38B-8DFF-C443-B9A9-E357720C2BA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363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D5E1FB-C592-9A44-8CD1-EE41E1194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4800" dirty="0"/>
            </a:br>
            <a:r>
              <a:rPr lang="it-IT" sz="2400" dirty="0" err="1"/>
              <a:t>However</a:t>
            </a:r>
            <a:r>
              <a:rPr lang="it-IT" sz="2400" dirty="0"/>
              <a:t>, PM </a:t>
            </a:r>
            <a:r>
              <a:rPr lang="it-IT" sz="2400" dirty="0" err="1"/>
              <a:t>has</a:t>
            </a:r>
            <a:r>
              <a:rPr lang="it-IT" sz="2400" dirty="0"/>
              <a:t> </a:t>
            </a:r>
            <a:r>
              <a:rPr lang="it-IT" sz="2400" dirty="0" err="1"/>
              <a:t>been</a:t>
            </a:r>
            <a:r>
              <a:rPr lang="it-IT" sz="2400" dirty="0"/>
              <a:t> </a:t>
            </a:r>
            <a:r>
              <a:rPr lang="it-IT" sz="2400" dirty="0" err="1"/>
              <a:t>applied</a:t>
            </a:r>
            <a:r>
              <a:rPr lang="it-IT" sz="2400" dirty="0"/>
              <a:t> to </a:t>
            </a:r>
            <a:r>
              <a:rPr lang="it-IT" sz="2400" dirty="0" err="1"/>
              <a:t>several</a:t>
            </a:r>
            <a:r>
              <a:rPr lang="it-IT" sz="2400" dirty="0"/>
              <a:t> </a:t>
            </a:r>
            <a:r>
              <a:rPr lang="it-IT" sz="2400" dirty="0" err="1"/>
              <a:t>domains</a:t>
            </a:r>
            <a:r>
              <a:rPr lang="it-IT" sz="2400" dirty="0"/>
              <a:t>, e.g., the </a:t>
            </a:r>
            <a:r>
              <a:rPr lang="it-IT" sz="2400" b="1" dirty="0" err="1">
                <a:solidFill>
                  <a:srgbClr val="FF0000"/>
                </a:solidFill>
              </a:rPr>
              <a:t>legal</a:t>
            </a:r>
            <a:r>
              <a:rPr lang="it-IT" sz="2400" dirty="0"/>
              <a:t> </a:t>
            </a:r>
            <a:r>
              <a:rPr lang="it-IT" sz="2400" dirty="0" err="1"/>
              <a:t>one</a:t>
            </a:r>
            <a:endParaRPr lang="it-IT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41535B-4711-6E4D-A4F8-73FAFF0DE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87" y="2459492"/>
            <a:ext cx="5900727" cy="5184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0F9A26A-B4B5-914D-9EB8-C17CC215C7E6}"/>
              </a:ext>
            </a:extLst>
          </p:cNvPr>
          <p:cNvSpPr/>
          <p:nvPr/>
        </p:nvSpPr>
        <p:spPr>
          <a:xfrm>
            <a:off x="1533848" y="7613104"/>
            <a:ext cx="375237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/>
              <a:t>The </a:t>
            </a:r>
            <a:r>
              <a:rPr lang="it-IT" sz="3200" dirty="0" err="1"/>
              <a:t>process</a:t>
            </a:r>
            <a:r>
              <a:rPr lang="it-IT" sz="3200" dirty="0"/>
              <a:t> of a law?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A7B108-0749-D144-B4E8-9407D757EB8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240"/>
          <a:stretch/>
        </p:blipFill>
        <p:spPr>
          <a:xfrm>
            <a:off x="6371613" y="2433513"/>
            <a:ext cx="6248400" cy="52943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125C3E2-2ABD-D74D-97BF-198D8441B6BF}"/>
              </a:ext>
            </a:extLst>
          </p:cNvPr>
          <p:cNvSpPr/>
          <p:nvPr/>
        </p:nvSpPr>
        <p:spPr>
          <a:xfrm>
            <a:off x="6430392" y="7678874"/>
            <a:ext cx="600055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3200" dirty="0" err="1"/>
              <a:t>Does</a:t>
            </a:r>
            <a:r>
              <a:rPr lang="it-IT" sz="3200" dirty="0"/>
              <a:t> </a:t>
            </a:r>
            <a:r>
              <a:rPr lang="it-IT" sz="3200" dirty="0" err="1"/>
              <a:t>my</a:t>
            </a:r>
            <a:r>
              <a:rPr lang="it-IT" sz="3200" dirty="0"/>
              <a:t> </a:t>
            </a:r>
            <a:r>
              <a:rPr lang="it-IT" sz="3200" dirty="0" err="1"/>
              <a:t>process</a:t>
            </a:r>
            <a:r>
              <a:rPr lang="it-IT" sz="3200" dirty="0"/>
              <a:t> </a:t>
            </a:r>
            <a:r>
              <a:rPr lang="it-IT" sz="3200" dirty="0" err="1"/>
              <a:t>comply</a:t>
            </a:r>
            <a:r>
              <a:rPr lang="it-IT" sz="3200" dirty="0"/>
              <a:t> with law?</a:t>
            </a:r>
            <a:endParaRPr lang="en-US" sz="3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BBB1C-00BC-6E42-82C1-11C9CD9D45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9115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94E98C-BD24-0F42-93FF-76AB0A5C5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968" y="2284512"/>
            <a:ext cx="8102600" cy="4051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BB4EFFC-5322-1E40-BABA-F4342CC43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598" y="3422807"/>
            <a:ext cx="7533339" cy="6112156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5729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89" y="5172545"/>
            <a:ext cx="11559621" cy="58969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0EFE26-7A1E-79DC-D9E8-7F7369EDEF81}"/>
              </a:ext>
            </a:extLst>
          </p:cNvPr>
          <p:cNvSpPr txBox="1"/>
          <p:nvPr/>
        </p:nvSpPr>
        <p:spPr>
          <a:xfrm>
            <a:off x="3093365" y="2068488"/>
            <a:ext cx="6075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a law court?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233A00-4C3F-EB04-9A8C-87EA2393AF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7668" r="15298"/>
          <a:stretch>
            <a:fillRect/>
          </a:stretch>
        </p:blipFill>
        <p:spPr>
          <a:xfrm>
            <a:off x="1391849" y="2860576"/>
            <a:ext cx="4180223" cy="211104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4CDB0DF-ADFE-BB50-1292-EFE96112F4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6687"/>
          <a:stretch>
            <a:fillRect/>
          </a:stretch>
        </p:blipFill>
        <p:spPr>
          <a:xfrm>
            <a:off x="5760915" y="3170023"/>
            <a:ext cx="5900897" cy="134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316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9225734-B5FF-8B4A-B29D-7C0F2ECFD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4C84A-259B-6C44-8F38-7652498DE8C1}"/>
              </a:ext>
            </a:extLst>
          </p:cNvPr>
          <p:cNvSpPr/>
          <p:nvPr/>
        </p:nvSpPr>
        <p:spPr bwMode="auto">
          <a:xfrm>
            <a:off x="10318824" y="444475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35A56AD-6F75-E34F-897B-5D529271B9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EC3A57-4AAB-8C43-ACC1-A0923ABEAB1B}"/>
              </a:ext>
            </a:extLst>
          </p:cNvPr>
          <p:cNvSpPr/>
          <p:nvPr/>
        </p:nvSpPr>
        <p:spPr bwMode="auto">
          <a:xfrm>
            <a:off x="10318824" y="214049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6D5DF1-658C-9614-8386-55AF7BACFC7A}"/>
              </a:ext>
            </a:extLst>
          </p:cNvPr>
          <p:cNvSpPr txBox="1"/>
          <p:nvPr/>
        </p:nvSpPr>
        <p:spPr>
          <a:xfrm>
            <a:off x="3093365" y="2068488"/>
            <a:ext cx="6075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efficient is a law court?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A6FD6-216B-D6BC-8136-024EE90D0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4344" y="4412361"/>
            <a:ext cx="23212976" cy="118417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2370DA-0839-77F5-FAA1-AF863CA8A6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7668" r="15298"/>
          <a:stretch>
            <a:fillRect/>
          </a:stretch>
        </p:blipFill>
        <p:spPr>
          <a:xfrm>
            <a:off x="1391849" y="2860576"/>
            <a:ext cx="4180223" cy="21110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36E82C-0E0A-A52E-327D-0AF7F5C39D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6687"/>
          <a:stretch>
            <a:fillRect/>
          </a:stretch>
        </p:blipFill>
        <p:spPr>
          <a:xfrm>
            <a:off x="5760915" y="3170023"/>
            <a:ext cx="5900897" cy="134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264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9CC24-7994-6E5F-2A27-EADF7AF88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5089B8A-D990-7B13-1B15-FB66E3BB9FD4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DDB80A-E8B8-50D2-81B2-208433FC8EAF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5E1E2718-6304-1307-6D38-10B78B1FD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19628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legal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54CE91-711D-3692-0332-91904C17A858}"/>
              </a:ext>
            </a:extLst>
          </p:cNvPr>
          <p:cNvSpPr/>
          <p:nvPr/>
        </p:nvSpPr>
        <p:spPr bwMode="auto">
          <a:xfrm>
            <a:off x="10318824" y="3724672"/>
            <a:ext cx="576064" cy="864096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2B3E788-BC10-B64E-969B-EE6E25125C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9856EC-026E-E8E4-9EAD-C830BE12A35F}"/>
              </a:ext>
            </a:extLst>
          </p:cNvPr>
          <p:cNvSpPr/>
          <p:nvPr/>
        </p:nvSpPr>
        <p:spPr bwMode="auto">
          <a:xfrm>
            <a:off x="10318824" y="1420416"/>
            <a:ext cx="792088" cy="648072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E8F019-3542-D1DD-0819-111B625A7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6" y="2790737"/>
            <a:ext cx="7852631" cy="20860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972727-E201-C339-D2A1-1CF9CE8A2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712" y="5944726"/>
            <a:ext cx="7914622" cy="16683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38B5A97-B1C8-A91D-E0A2-CE78F4C3A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8205" y="1924472"/>
            <a:ext cx="3590899" cy="76207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E9C2E6-27CA-BF99-4B78-460BBA9D4DE2}"/>
              </a:ext>
            </a:extLst>
          </p:cNvPr>
          <p:cNvSpPr txBox="1"/>
          <p:nvPr/>
        </p:nvSpPr>
        <p:spPr>
          <a:xfrm>
            <a:off x="1689176" y="1420416"/>
            <a:ext cx="8884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How does the Italian parliament work?</a:t>
            </a:r>
          </a:p>
        </p:txBody>
      </p:sp>
    </p:spTree>
    <p:extLst>
      <p:ext uri="{BB962C8B-B14F-4D97-AF65-F5344CB8AC3E}">
        <p14:creationId xmlns:p14="http://schemas.microsoft.com/office/powerpoint/2010/main" val="804749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1BA92D-ADC6-7C4E-8E5D-2AF1782619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7974"/>
          <a:stretch/>
        </p:blipFill>
        <p:spPr>
          <a:xfrm>
            <a:off x="885776" y="4837565"/>
            <a:ext cx="3804683" cy="4575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11D4BB-57B0-6D4E-9CEF-BB09789450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3738" y="4300736"/>
            <a:ext cx="5143318" cy="5239568"/>
          </a:xfrm>
          <a:prstGeom prst="rect">
            <a:avLst/>
          </a:prstGeom>
          <a:effectLst/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</a:t>
            </a:r>
            <a:r>
              <a:rPr lang="it-IT" sz="2800" dirty="0" err="1"/>
              <a:t>domains</a:t>
            </a:r>
            <a:r>
              <a:rPr lang="it-IT" sz="2800" dirty="0"/>
              <a:t>, e.g., the </a:t>
            </a:r>
            <a:r>
              <a:rPr lang="it-IT" sz="2800" b="1" dirty="0" err="1">
                <a:solidFill>
                  <a:srgbClr val="FF0000"/>
                </a:solidFill>
              </a:rPr>
              <a:t>healthcare</a:t>
            </a:r>
            <a:r>
              <a:rPr lang="it-IT" sz="2800" dirty="0"/>
              <a:t> </a:t>
            </a:r>
            <a:r>
              <a:rPr lang="it-IT" sz="2800" dirty="0" err="1"/>
              <a:t>one</a:t>
            </a:r>
            <a:endParaRPr lang="it-IT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12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D8E6FC-EB9F-90E3-639C-6363B41868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3888" y="2433513"/>
            <a:ext cx="7772400" cy="13512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991497-FB7E-97F4-8E9B-F5EB09AFA3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6162" y="2860576"/>
            <a:ext cx="2610595" cy="13913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6B4AD8-BE78-596C-99DF-DCF705733D33}"/>
              </a:ext>
            </a:extLst>
          </p:cNvPr>
          <p:cNvSpPr txBox="1"/>
          <p:nvPr/>
        </p:nvSpPr>
        <p:spPr>
          <a:xfrm>
            <a:off x="3694088" y="3513633"/>
            <a:ext cx="4248472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GB" sz="1600" b="0" i="0" u="none" strike="noStrike" dirty="0">
                <a:solidFill>
                  <a:srgbClr val="606060"/>
                </a:solidFill>
                <a:effectLst/>
                <a:latin typeface="Helvetica" pitchFamily="2" charset="0"/>
                <a:hlinkClick r:id="rId8"/>
              </a:rPr>
              <a:t>https://doi.org/10.1371/journal.pone.0339788</a:t>
            </a:r>
            <a:endParaRPr lang="en-GB" sz="1600" b="0" i="0" dirty="0">
              <a:solidFill>
                <a:srgbClr val="60606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015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A389E38-19BE-9749-B261-7EF058DB9DBF}"/>
              </a:ext>
            </a:extLst>
          </p:cNvPr>
          <p:cNvSpPr/>
          <p:nvPr/>
        </p:nvSpPr>
        <p:spPr bwMode="auto">
          <a:xfrm>
            <a:off x="10318824" y="340296"/>
            <a:ext cx="2685976" cy="936104"/>
          </a:xfrm>
          <a:prstGeom prst="rect">
            <a:avLst/>
          </a:prstGeom>
          <a:solidFill>
            <a:schemeClr val="bg1"/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1B6D9-6E98-604E-ACAD-CAB75BC8EAF8}"/>
              </a:ext>
            </a:extLst>
          </p:cNvPr>
          <p:cNvSpPr txBox="1"/>
          <p:nvPr/>
        </p:nvSpPr>
        <p:spPr>
          <a:xfrm>
            <a:off x="470886" y="7829128"/>
            <a:ext cx="653557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4267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Picture by Koen Olsthoorn </a:t>
            </a:r>
            <a:endParaRPr lang="it-IT" sz="4267" dirty="0">
              <a:solidFill>
                <a:schemeClr val="bg1"/>
              </a:solidFill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6EE599E-81BF-B048-84F6-C2B2E06C6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07" y="843900"/>
            <a:ext cx="12118187" cy="1086009"/>
          </a:xfrm>
        </p:spPr>
        <p:txBody>
          <a:bodyPr>
            <a:noAutofit/>
          </a:bodyPr>
          <a:lstStyle/>
          <a:p>
            <a:r>
              <a:rPr lang="it-IT" sz="4000" dirty="0" err="1"/>
              <a:t>We</a:t>
            </a:r>
            <a:r>
              <a:rPr lang="it-IT" sz="4000" dirty="0"/>
              <a:t> </a:t>
            </a:r>
            <a:r>
              <a:rPr lang="it-IT" sz="4000" dirty="0" err="1"/>
              <a:t>will</a:t>
            </a:r>
            <a:r>
              <a:rPr lang="it-IT" sz="4000" dirty="0"/>
              <a:t> </a:t>
            </a:r>
            <a:r>
              <a:rPr lang="it-IT" sz="4000" dirty="0" err="1"/>
              <a:t>see</a:t>
            </a:r>
            <a:r>
              <a:rPr lang="it-IT" sz="4000" dirty="0"/>
              <a:t> a </a:t>
            </a:r>
            <a:r>
              <a:rPr lang="it-IT" sz="4000" dirty="0" err="1"/>
              <a:t>simple</a:t>
            </a:r>
            <a:r>
              <a:rPr lang="it-IT" sz="4000" dirty="0"/>
              <a:t> </a:t>
            </a:r>
            <a:r>
              <a:rPr lang="it-IT" sz="4000" dirty="0" err="1"/>
              <a:t>example</a:t>
            </a:r>
            <a:r>
              <a:rPr lang="it-IT" sz="4000" dirty="0"/>
              <a:t> (</a:t>
            </a:r>
            <a:r>
              <a:rPr lang="it-IT" sz="4000" dirty="0" err="1"/>
              <a:t>purchasing</a:t>
            </a:r>
            <a:r>
              <a:rPr lang="it-IT" sz="4000" dirty="0"/>
              <a:t> </a:t>
            </a:r>
            <a:r>
              <a:rPr lang="it-IT" sz="4000" dirty="0" err="1"/>
              <a:t>process</a:t>
            </a:r>
            <a:r>
              <a:rPr lang="it-IT" sz="4000" dirty="0"/>
              <a:t>)</a:t>
            </a:r>
            <a:br>
              <a:rPr lang="it-IT" sz="6000" dirty="0"/>
            </a:br>
            <a:r>
              <a:rPr lang="it-IT" sz="2800" dirty="0" err="1"/>
              <a:t>However</a:t>
            </a:r>
            <a:r>
              <a:rPr lang="it-IT" sz="2800" dirty="0"/>
              <a:t>, PM </a:t>
            </a:r>
            <a:r>
              <a:rPr lang="it-IT" sz="2800" dirty="0" err="1"/>
              <a:t>has</a:t>
            </a:r>
            <a:r>
              <a:rPr lang="it-IT" sz="2800" dirty="0"/>
              <a:t> </a:t>
            </a:r>
            <a:r>
              <a:rPr lang="it-IT" sz="2800" dirty="0" err="1"/>
              <a:t>been</a:t>
            </a:r>
            <a:r>
              <a:rPr lang="it-IT" sz="2800" dirty="0"/>
              <a:t> </a:t>
            </a:r>
            <a:r>
              <a:rPr lang="it-IT" sz="2800" dirty="0" err="1"/>
              <a:t>applied</a:t>
            </a:r>
            <a:r>
              <a:rPr lang="it-IT" sz="2800" dirty="0"/>
              <a:t> to </a:t>
            </a:r>
            <a:r>
              <a:rPr lang="it-IT" sz="2800" dirty="0" err="1"/>
              <a:t>several</a:t>
            </a:r>
            <a:r>
              <a:rPr lang="it-IT" sz="2800" dirty="0"/>
              <a:t> domains, e.g., the </a:t>
            </a:r>
            <a:r>
              <a:rPr lang="it-IT" sz="2800" b="1" dirty="0">
                <a:solidFill>
                  <a:srgbClr val="FF0000"/>
                </a:solidFill>
              </a:rPr>
              <a:t>security</a:t>
            </a:r>
            <a:r>
              <a:rPr lang="it-IT" sz="2800" dirty="0"/>
              <a:t> 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E2E2D-00D1-294F-B28A-0059CEE55E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lnSpcReduction="10000"/>
          </a:bodyPr>
          <a:lstStyle/>
          <a:p>
            <a:fld id="{00000000-1234-1234-1234-123412341234}" type="slidenum">
              <a:rPr lang="en-GB" smtClean="0"/>
              <a:pPr/>
              <a:t>13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9EF6B-FCCF-CCE9-E597-D03693715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776" y="6014949"/>
            <a:ext cx="11307560" cy="3614379"/>
          </a:xfrm>
          <a:prstGeom prst="rect">
            <a:avLst/>
          </a:prstGeom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4F22F529-E401-D8F6-E99B-0D95820F2B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3440" y="1995112"/>
            <a:ext cx="7772400" cy="296862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39ABCD-A916-C7E7-AF06-4AE2B426B5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0072" y="4908101"/>
            <a:ext cx="5760640" cy="110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467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Example Scenario</a:t>
            </a:r>
            <a:endParaRPr lang="en-US" altLang="en-IT" sz="4000" b="1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6B11C9E-1907-7545-A0D4-F0E8462D876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7891475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Rectangle 1">
            <a:extLst>
              <a:ext uri="{FF2B5EF4-FFF2-40B4-BE49-F238E27FC236}">
                <a16:creationId xmlns:a16="http://schemas.microsoft.com/office/drawing/2014/main" id="{F49A96BE-03A9-5243-82B7-B16BE2EFDC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Example Scenario</a:t>
            </a:r>
          </a:p>
        </p:txBody>
      </p:sp>
      <p:sp>
        <p:nvSpPr>
          <p:cNvPr id="9218" name="Rectangle 2">
            <a:extLst>
              <a:ext uri="{FF2B5EF4-FFF2-40B4-BE49-F238E27FC236}">
                <a16:creationId xmlns:a16="http://schemas.microsoft.com/office/drawing/2014/main" id="{5BD0D13B-A6D6-334F-8538-D5A1CCC687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44600" y="3048000"/>
            <a:ext cx="5016500" cy="825500"/>
          </a:xfrm>
        </p:spPr>
        <p:txBody>
          <a:bodyPr/>
          <a:lstStyle/>
          <a:p>
            <a:pPr marL="0" indent="0" eaLnBrk="1" hangingPunct="1"/>
            <a:r>
              <a:rPr lang="en-US" altLang="en-IT" sz="3600">
                <a:solidFill>
                  <a:schemeClr val="tx1"/>
                </a:solidFill>
              </a:rPr>
              <a:t>Purchasing process </a:t>
            </a:r>
          </a:p>
        </p:txBody>
      </p:sp>
      <p:sp>
        <p:nvSpPr>
          <p:cNvPr id="9219" name="AutoShape 3">
            <a:extLst>
              <a:ext uri="{FF2B5EF4-FFF2-40B4-BE49-F238E27FC236}">
                <a16:creationId xmlns:a16="http://schemas.microsoft.com/office/drawing/2014/main" id="{302750AD-F279-DA48-90E5-D293352CF148}"/>
              </a:ext>
            </a:extLst>
          </p:cNvPr>
          <p:cNvSpPr>
            <a:spLocks/>
          </p:cNvSpPr>
          <p:nvPr/>
        </p:nvSpPr>
        <p:spPr bwMode="auto">
          <a:xfrm>
            <a:off x="1244600" y="4699000"/>
            <a:ext cx="10972800" cy="3479800"/>
          </a:xfrm>
          <a:prstGeom prst="roundRect">
            <a:avLst>
              <a:gd name="adj" fmla="val 5472"/>
            </a:avLst>
          </a:prstGeom>
          <a:gradFill rotWithShape="0">
            <a:gsLst>
              <a:gs pos="0">
                <a:srgbClr val="EADDCE"/>
              </a:gs>
              <a:gs pos="100000">
                <a:srgbClr val="B8B496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93ED32F3-2E00-0346-9834-F7E21AC30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25600" y="5524500"/>
            <a:ext cx="438150" cy="11684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1" name="Picture 5">
            <a:extLst>
              <a:ext uri="{FF2B5EF4-FFF2-40B4-BE49-F238E27FC236}">
                <a16:creationId xmlns:a16="http://schemas.microsoft.com/office/drawing/2014/main" id="{CBC450DF-B51F-1E48-A2B6-5030CA130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934700" y="3022600"/>
            <a:ext cx="1231900" cy="11557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2" name="Rectangle 6">
            <a:extLst>
              <a:ext uri="{FF2B5EF4-FFF2-40B4-BE49-F238E27FC236}">
                <a16:creationId xmlns:a16="http://schemas.microsoft.com/office/drawing/2014/main" id="{C8E72932-266C-334D-B8B2-90A39DBCC70F}"/>
              </a:ext>
            </a:extLst>
          </p:cNvPr>
          <p:cNvSpPr>
            <a:spLocks/>
          </p:cNvSpPr>
          <p:nvPr/>
        </p:nvSpPr>
        <p:spPr bwMode="auto">
          <a:xfrm>
            <a:off x="11237913" y="37084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DBAE3255-0E47-874E-A37D-A11D49E9927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10053638" y="3873500"/>
            <a:ext cx="774700" cy="739775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24" name="Picture 8">
            <a:extLst>
              <a:ext uri="{FF2B5EF4-FFF2-40B4-BE49-F238E27FC236}">
                <a16:creationId xmlns:a16="http://schemas.microsoft.com/office/drawing/2014/main" id="{357E9534-6AF2-B149-A511-187D28F57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324600" y="5480050"/>
            <a:ext cx="482600" cy="125095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5" name="Picture 9">
            <a:extLst>
              <a:ext uri="{FF2B5EF4-FFF2-40B4-BE49-F238E27FC236}">
                <a16:creationId xmlns:a16="http://schemas.microsoft.com/office/drawing/2014/main" id="{C82A6196-3B4C-A047-885A-5DBC4CACC7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038600" y="5473700"/>
            <a:ext cx="487363" cy="12700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pic>
        <p:nvPicPr>
          <p:cNvPr id="9226" name="Picture 10">
            <a:extLst>
              <a:ext uri="{FF2B5EF4-FFF2-40B4-BE49-F238E27FC236}">
                <a16:creationId xmlns:a16="http://schemas.microsoft.com/office/drawing/2014/main" id="{41725925-9BD4-F747-850D-F8C2D7C20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10731500" y="5461000"/>
            <a:ext cx="485775" cy="1244600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27" name="Rectangle 11">
            <a:extLst>
              <a:ext uri="{FF2B5EF4-FFF2-40B4-BE49-F238E27FC236}">
                <a16:creationId xmlns:a16="http://schemas.microsoft.com/office/drawing/2014/main" id="{65718E04-77A8-4F41-A30D-8A59080FAB7A}"/>
              </a:ext>
            </a:extLst>
          </p:cNvPr>
          <p:cNvSpPr>
            <a:spLocks/>
          </p:cNvSpPr>
          <p:nvPr/>
        </p:nvSpPr>
        <p:spPr bwMode="auto">
          <a:xfrm>
            <a:off x="1430338" y="6883400"/>
            <a:ext cx="1546225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0A3365C7-AFAC-EE48-BFEB-D4BA4E525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655888" y="6108700"/>
            <a:ext cx="909637" cy="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C4A69044-C415-1042-9118-3FA4264B58DF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2525" y="6107113"/>
            <a:ext cx="919163" cy="6350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9230" name="Picture 14">
            <a:extLst>
              <a:ext uri="{FF2B5EF4-FFF2-40B4-BE49-F238E27FC236}">
                <a16:creationId xmlns:a16="http://schemas.microsoft.com/office/drawing/2014/main" id="{4797260E-BEED-0847-8D7E-188F98586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547100" y="5507038"/>
            <a:ext cx="444500" cy="1185862"/>
          </a:xfrm>
          <a:prstGeom prst="rect">
            <a:avLst/>
          </a:prstGeom>
          <a:noFill/>
          <a:ln w="12700" cap="flat">
            <a:noFill/>
            <a:miter lim="800000"/>
            <a:headEnd/>
            <a:tailEnd/>
          </a:ln>
          <a:effectLst>
            <a:outerShdw blurRad="63500" dist="38099" dir="4140056" algn="ctr" rotWithShape="0">
              <a:schemeClr val="bg2">
                <a:alpha val="39999"/>
              </a:schemeClr>
            </a:outerShdw>
          </a:effectLst>
        </p:spPr>
      </p:pic>
      <p:sp>
        <p:nvSpPr>
          <p:cNvPr id="9231" name="Rectangle 15">
            <a:extLst>
              <a:ext uri="{FF2B5EF4-FFF2-40B4-BE49-F238E27FC236}">
                <a16:creationId xmlns:a16="http://schemas.microsoft.com/office/drawing/2014/main" id="{EC8EB4C2-7A7C-784A-B011-1B22F1987CB6}"/>
              </a:ext>
            </a:extLst>
          </p:cNvPr>
          <p:cNvSpPr>
            <a:spLocks/>
          </p:cNvSpPr>
          <p:nvPr/>
        </p:nvSpPr>
        <p:spPr bwMode="auto">
          <a:xfrm>
            <a:off x="5776913" y="6921500"/>
            <a:ext cx="1676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Purchasing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E41BBA93-D3F2-1746-B49F-029C0102D066}"/>
              </a:ext>
            </a:extLst>
          </p:cNvPr>
          <p:cNvSpPr>
            <a:spLocks/>
          </p:cNvSpPr>
          <p:nvPr/>
        </p:nvSpPr>
        <p:spPr bwMode="auto">
          <a:xfrm>
            <a:off x="3505200" y="6896100"/>
            <a:ext cx="154622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Requester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AD8817EC-BDA1-E24E-9E0F-1B76769B6B6C}"/>
              </a:ext>
            </a:extLst>
          </p:cNvPr>
          <p:cNvSpPr>
            <a:spLocks/>
          </p:cNvSpPr>
          <p:nvPr/>
        </p:nvSpPr>
        <p:spPr bwMode="auto">
          <a:xfrm>
            <a:off x="8142288" y="6959600"/>
            <a:ext cx="1265237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Supplier</a:t>
            </a:r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53E80AC9-A252-1045-AAD0-88950EE1DD78}"/>
              </a:ext>
            </a:extLst>
          </p:cNvPr>
          <p:cNvSpPr>
            <a:spLocks/>
          </p:cNvSpPr>
          <p:nvPr/>
        </p:nvSpPr>
        <p:spPr bwMode="auto">
          <a:xfrm>
            <a:off x="10296525" y="6896100"/>
            <a:ext cx="1346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Financial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50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9235" name="Line 19">
            <a:extLst>
              <a:ext uri="{FF2B5EF4-FFF2-40B4-BE49-F238E27FC236}">
                <a16:creationId xmlns:a16="http://schemas.microsoft.com/office/drawing/2014/main" id="{F5567CE8-1907-0146-8702-7CE315CA08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77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9236" name="Line 20">
            <a:extLst>
              <a:ext uri="{FF2B5EF4-FFF2-40B4-BE49-F238E27FC236}">
                <a16:creationId xmlns:a16="http://schemas.microsoft.com/office/drawing/2014/main" id="{F97E159B-E6AF-0043-BC2E-F5619B7EE574}"/>
              </a:ext>
            </a:extLst>
          </p:cNvPr>
          <p:cNvSpPr>
            <a:spLocks noChangeShapeType="1"/>
          </p:cNvSpPr>
          <p:nvPr/>
        </p:nvSpPr>
        <p:spPr bwMode="auto">
          <a:xfrm>
            <a:off x="9436100" y="6096000"/>
            <a:ext cx="919163" cy="4763"/>
          </a:xfrm>
          <a:prstGeom prst="line">
            <a:avLst/>
          </a:prstGeom>
          <a:noFill/>
          <a:ln w="63500">
            <a:solidFill>
              <a:srgbClr val="5E5D5D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2" name="Slide Number Placeholder 1">
            <a:extLst>
              <a:ext uri="{FF2B5EF4-FFF2-40B4-BE49-F238E27FC236}">
                <a16:creationId xmlns:a16="http://schemas.microsoft.com/office/drawing/2014/main" id="{F1E1F81A-62DB-BB4D-9B37-25F26AF888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Rectangle 1">
            <a:extLst>
              <a:ext uri="{FF2B5EF4-FFF2-40B4-BE49-F238E27FC236}">
                <a16:creationId xmlns:a16="http://schemas.microsoft.com/office/drawing/2014/main" id="{23BEE82E-7876-4441-8866-3A8A442AE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Problems</a:t>
            </a:r>
          </a:p>
        </p:txBody>
      </p:sp>
      <p:sp>
        <p:nvSpPr>
          <p:cNvPr id="10242" name="Rectangle 2">
            <a:extLst>
              <a:ext uri="{FF2B5EF4-FFF2-40B4-BE49-F238E27FC236}">
                <a16:creationId xmlns:a16="http://schemas.microsoft.com/office/drawing/2014/main" id="{D5561898-F105-214C-81E9-F34D4D41EE1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Inefficient operations 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Need to demonstrate compliance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 Complaints about process duration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2656C24-86CD-6244-8CD6-B5283465282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Rectangle 1">
            <a:extLst>
              <a:ext uri="{FF2B5EF4-FFF2-40B4-BE49-F238E27FC236}">
                <a16:creationId xmlns:a16="http://schemas.microsoft.com/office/drawing/2014/main" id="{A5D0E428-901C-2B4C-B04F-67ED3288F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Analysis Goals</a:t>
            </a:r>
          </a:p>
        </p:txBody>
      </p:sp>
      <p:sp>
        <p:nvSpPr>
          <p:cNvPr id="11266" name="Rectangle 2">
            <a:extLst>
              <a:ext uri="{FF2B5EF4-FFF2-40B4-BE49-F238E27FC236}">
                <a16:creationId xmlns:a16="http://schemas.microsoft.com/office/drawing/2014/main" id="{0B75DF26-24E4-3847-82CF-852E9ADD686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769600" cy="5791200"/>
          </a:xfrm>
        </p:spPr>
        <p:txBody>
          <a:bodyPr/>
          <a:lstStyle/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Understand the process in detail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Check whether there are deviations from the payment guidelines</a:t>
            </a:r>
          </a:p>
          <a:p>
            <a:pPr marL="996950" indent="-742950" eaLnBrk="1" hangingPunct="1">
              <a:buFont typeface="Helvetica Neue UltraLight" panose="02000206000000020004" pitchFamily="2" charset="0"/>
              <a:buAutoNum type="arabicPeriod"/>
            </a:pPr>
            <a:r>
              <a:rPr lang="en-US" altLang="en-IT" sz="4000">
                <a:solidFill>
                  <a:schemeClr val="tx1"/>
                </a:solidFill>
              </a:rPr>
              <a:t>Control performance targets </a:t>
            </a:r>
          </a:p>
          <a:p>
            <a:pPr marL="1435100" lvl="2" indent="-457200" eaLnBrk="1" hangingPunct="1"/>
            <a:r>
              <a:rPr lang="en-US" altLang="en-IT" sz="3400">
                <a:solidFill>
                  <a:schemeClr val="tx1"/>
                </a:solidFill>
              </a:rPr>
              <a:t>Complete process in at most 21 days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8501433-6EE1-3E4A-A179-B6E36B367A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02EC8C4-C9A1-5D4D-8B5E-FC1789E1A70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7100072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Rectangle 2">
            <a:extLst>
              <a:ext uri="{FF2B5EF4-FFF2-40B4-BE49-F238E27FC236}">
                <a16:creationId xmlns:a16="http://schemas.microsoft.com/office/drawing/2014/main" id="{C07A0F0B-CCE5-564F-B35E-E9C805144E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sp>
        <p:nvSpPr>
          <p:cNvPr id="13314" name="Rectangle 3">
            <a:extLst>
              <a:ext uri="{FF2B5EF4-FFF2-40B4-BE49-F238E27FC236}">
                <a16:creationId xmlns:a16="http://schemas.microsoft.com/office/drawing/2014/main" id="{AA6542FA-481A-C14B-B271-B93A91BFDEE2}"/>
              </a:ext>
            </a:extLst>
          </p:cNvPr>
          <p:cNvSpPr>
            <a:spLocks/>
          </p:cNvSpPr>
          <p:nvPr/>
        </p:nvSpPr>
        <p:spPr bwMode="auto">
          <a:xfrm>
            <a:off x="1181100" y="5581650"/>
            <a:ext cx="2298700" cy="2578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Determine questions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Process scope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Which IT systems</a:t>
            </a:r>
          </a:p>
        </p:txBody>
      </p:sp>
      <p:sp>
        <p:nvSpPr>
          <p:cNvPr id="13315" name="Rectangle 4">
            <a:extLst>
              <a:ext uri="{FF2B5EF4-FFF2-40B4-BE49-F238E27FC236}">
                <a16:creationId xmlns:a16="http://schemas.microsoft.com/office/drawing/2014/main" id="{5DA42BE0-D645-5D48-A7E1-480986DD6487}"/>
              </a:ext>
            </a:extLst>
          </p:cNvPr>
          <p:cNvSpPr>
            <a:spLocks/>
          </p:cNvSpPr>
          <p:nvPr/>
        </p:nvSpPr>
        <p:spPr bwMode="auto">
          <a:xfrm>
            <a:off x="3467100" y="5556250"/>
            <a:ext cx="2184400" cy="208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Via DB administrator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CSV file or database extract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0FA8C2B3-D5B3-504F-A95F-E1B25BFF0F4B}"/>
              </a:ext>
            </a:extLst>
          </p:cNvPr>
          <p:cNvSpPr>
            <a:spLocks/>
          </p:cNvSpPr>
          <p:nvPr/>
        </p:nvSpPr>
        <p:spPr bwMode="auto">
          <a:xfrm>
            <a:off x="5765800" y="5537200"/>
            <a:ext cx="2184400" cy="170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Extract ‘As-is’ process</a:t>
            </a:r>
          </a:p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Answer questions</a:t>
            </a:r>
          </a:p>
        </p:txBody>
      </p:sp>
      <p:sp>
        <p:nvSpPr>
          <p:cNvPr id="13317" name="Rectangle 6">
            <a:extLst>
              <a:ext uri="{FF2B5EF4-FFF2-40B4-BE49-F238E27FC236}">
                <a16:creationId xmlns:a16="http://schemas.microsoft.com/office/drawing/2014/main" id="{66F4A055-87D9-084E-AD04-355285561C6B}"/>
              </a:ext>
            </a:extLst>
          </p:cNvPr>
          <p:cNvSpPr>
            <a:spLocks/>
          </p:cNvSpPr>
          <p:nvPr/>
        </p:nvSpPr>
        <p:spPr bwMode="auto">
          <a:xfrm>
            <a:off x="8064500" y="5537200"/>
            <a:ext cx="2628900" cy="158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marL="317500" indent="-254000">
              <a:spcBef>
                <a:spcPts val="2300"/>
              </a:spcBef>
              <a:tabLst>
                <a:tab pos="1168400" algn="l"/>
              </a:tabLst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tabLst>
                <a:tab pos="1168400" algn="l"/>
              </a:tabLst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ts val="900"/>
              </a:spcBef>
              <a:buFont typeface="Helvetica Neue Light" panose="02000403000000020004" pitchFamily="2" charset="0"/>
              <a:buChar char="•"/>
            </a:pPr>
            <a:r>
              <a:rPr lang="en-US" altLang="en-IT" sz="25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Present results (e.g., report, presentation, workshop etc.)</a:t>
            </a:r>
          </a:p>
        </p:txBody>
      </p:sp>
      <p:pic>
        <p:nvPicPr>
          <p:cNvPr id="13318" name="Picture 7" descr="phases-1.pdf">
            <a:extLst>
              <a:ext uri="{FF2B5EF4-FFF2-40B4-BE49-F238E27FC236}">
                <a16:creationId xmlns:a16="http://schemas.microsoft.com/office/drawing/2014/main" id="{6B955333-DB5A-B542-B156-BDB6649D3B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40163"/>
            <a:ext cx="8999538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5C48D75A-EEAC-7442-A41B-191093810C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19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98EFE8AC-E5A2-5F42-9995-0E8FBDCD8A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58800" y="6172200"/>
            <a:ext cx="11493500" cy="30226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76B4D447-BD56-9F4E-8F7D-F2037754F8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4339" name="Picture 5" descr="phases-1b.pdf">
            <a:extLst>
              <a:ext uri="{FF2B5EF4-FFF2-40B4-BE49-F238E27FC236}">
                <a16:creationId xmlns:a16="http://schemas.microsoft.com/office/drawing/2014/main" id="{6C86261C-AB0F-8741-82F6-812814134C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783013"/>
            <a:ext cx="8999538" cy="185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6DD53DDE-2925-EA4A-BB74-7C5A25C4B64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2">
            <a:extLst>
              <a:ext uri="{FF2B5EF4-FFF2-40B4-BE49-F238E27FC236}">
                <a16:creationId xmlns:a16="http://schemas.microsoft.com/office/drawing/2014/main" id="{CE126C05-0341-614C-A498-0925569D79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5362" name="Picture 3" descr="phases-2.pdf">
            <a:extLst>
              <a:ext uri="{FF2B5EF4-FFF2-40B4-BE49-F238E27FC236}">
                <a16:creationId xmlns:a16="http://schemas.microsoft.com/office/drawing/2014/main" id="{867EA010-52B6-4E42-AB37-FF430C836C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3E7925F-03C3-A445-A25A-7C2841859F3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41B51F7-E32E-5A42-8533-3BDFA1A55B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181100" y="3073400"/>
            <a:ext cx="8343900" cy="41910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IT staff extracts history logs (from the Enterprise Resource Planning system, ERP) in a CSV file</a:t>
            </a:r>
          </a:p>
          <a:p>
            <a:pPr marL="0" indent="0" eaLnBrk="1" hangingPunct="1"/>
            <a:endParaRPr lang="en-US" altLang="en-IT" sz="2000" dirty="0"/>
          </a:p>
          <a:p>
            <a:pPr marL="0" indent="0" eaLnBrk="1" hangingPunct="1"/>
            <a:r>
              <a:rPr lang="en-US" altLang="en-IT" dirty="0"/>
              <a:t>Such CSV file is the starting point for our tutorial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Please download it from our wiki (Slides page)</a:t>
            </a:r>
          </a:p>
          <a:p>
            <a:pPr marL="571500" indent="-571500" eaLnBrk="1" hangingPunct="1">
              <a:spcBef>
                <a:spcPts val="0"/>
              </a:spcBef>
              <a:buFontTx/>
              <a:buChar char="-"/>
            </a:pPr>
            <a:r>
              <a:rPr lang="en-US" altLang="en-IT" sz="2800" dirty="0"/>
              <a:t>Or here: </a:t>
            </a:r>
            <a:r>
              <a:rPr lang="en-US" altLang="en-IT" sz="2800" dirty="0" err="1">
                <a:hlinkClick r:id="rId2"/>
              </a:rPr>
              <a:t>PurchaseExample.csv</a:t>
            </a:r>
            <a:endParaRPr lang="en-US" altLang="en-IT" sz="26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2378A2EF-F210-2542-92C7-0406DD8AB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9500" y="3111500"/>
            <a:ext cx="1231900" cy="1155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7" name="Rectangle 3">
            <a:extLst>
              <a:ext uri="{FF2B5EF4-FFF2-40B4-BE49-F238E27FC236}">
                <a16:creationId xmlns:a16="http://schemas.microsoft.com/office/drawing/2014/main" id="{01CA4386-C8F1-2645-B5E6-C5FA2C457E72}"/>
              </a:ext>
            </a:extLst>
          </p:cNvPr>
          <p:cNvSpPr>
            <a:spLocks/>
          </p:cNvSpPr>
          <p:nvPr/>
        </p:nvSpPr>
        <p:spPr bwMode="auto">
          <a:xfrm>
            <a:off x="10272713" y="3797300"/>
            <a:ext cx="631825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ERP</a:t>
            </a:r>
          </a:p>
        </p:txBody>
      </p:sp>
      <p:sp>
        <p:nvSpPr>
          <p:cNvPr id="16388" name="Line 4">
            <a:extLst>
              <a:ext uri="{FF2B5EF4-FFF2-40B4-BE49-F238E27FC236}">
                <a16:creationId xmlns:a16="http://schemas.microsoft.com/office/drawing/2014/main" id="{934EE7E5-D30A-6144-9F16-EA64CCED48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06856" y="4444752"/>
            <a:ext cx="0" cy="1435100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pic>
        <p:nvPicPr>
          <p:cNvPr id="16389" name="Picture 5">
            <a:extLst>
              <a:ext uri="{FF2B5EF4-FFF2-40B4-BE49-F238E27FC236}">
                <a16:creationId xmlns:a16="http://schemas.microsoft.com/office/drawing/2014/main" id="{DA3860FD-3B7A-0B45-A22D-E730472337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556" y="6100936"/>
            <a:ext cx="1093788" cy="143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90" name="Rectangle 6">
            <a:extLst>
              <a:ext uri="{FF2B5EF4-FFF2-40B4-BE49-F238E27FC236}">
                <a16:creationId xmlns:a16="http://schemas.microsoft.com/office/drawing/2014/main" id="{F07249C9-56F2-A84C-9FA7-26D534C9106B}"/>
              </a:ext>
            </a:extLst>
          </p:cNvPr>
          <p:cNvSpPr>
            <a:spLocks/>
          </p:cNvSpPr>
          <p:nvPr/>
        </p:nvSpPr>
        <p:spPr bwMode="auto">
          <a:xfrm>
            <a:off x="10252075" y="6719788"/>
            <a:ext cx="67310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 dirty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6391" name="Rectangle 7">
            <a:extLst>
              <a:ext uri="{FF2B5EF4-FFF2-40B4-BE49-F238E27FC236}">
                <a16:creationId xmlns:a16="http://schemas.microsoft.com/office/drawing/2014/main" id="{2281CD68-5F73-2F48-9280-59EDF264E6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Extraction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96D0974D-EC5B-504A-AF04-84DF53E4EEF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2">
            <a:extLst>
              <a:ext uri="{FF2B5EF4-FFF2-40B4-BE49-F238E27FC236}">
                <a16:creationId xmlns:a16="http://schemas.microsoft.com/office/drawing/2014/main" id="{F26406D2-BBDB-FD42-821C-1C0AAE4662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7410" name="Picture 3" descr="phases-3.pdf">
            <a:extLst>
              <a:ext uri="{FF2B5EF4-FFF2-40B4-BE49-F238E27FC236}">
                <a16:creationId xmlns:a16="http://schemas.microsoft.com/office/drawing/2014/main" id="{D101B2CF-3F60-EC4C-9E97-B8F53783D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86200"/>
            <a:ext cx="8999538" cy="187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B3AD94C-0634-7440-B84E-5BC9E43D7F8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3" name="Picture 1">
            <a:extLst>
              <a:ext uri="{FF2B5EF4-FFF2-40B4-BE49-F238E27FC236}">
                <a16:creationId xmlns:a16="http://schemas.microsoft.com/office/drawing/2014/main" id="{918248C6-AFA5-7244-8051-A88E36275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875" y="4597400"/>
            <a:ext cx="4546600" cy="327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>
            <a:extLst>
              <a:ext uri="{FF2B5EF4-FFF2-40B4-BE49-F238E27FC236}">
                <a16:creationId xmlns:a16="http://schemas.microsoft.com/office/drawing/2014/main" id="{D8DB3E7F-AB7C-DC41-B4F9-D89997EF54B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200400"/>
            <a:ext cx="10909300" cy="2387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We use the process mining tool Disco to perform the data analysis</a:t>
            </a:r>
          </a:p>
        </p:txBody>
      </p:sp>
      <p:pic>
        <p:nvPicPr>
          <p:cNvPr id="18435" name="Picture 3">
            <a:extLst>
              <a:ext uri="{FF2B5EF4-FFF2-40B4-BE49-F238E27FC236}">
                <a16:creationId xmlns:a16="http://schemas.microsoft.com/office/drawing/2014/main" id="{2F5C19B4-DDB4-734A-A578-C0B4FF628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75" y="5441950"/>
            <a:ext cx="111760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6" name="Rectangle 4">
            <a:extLst>
              <a:ext uri="{FF2B5EF4-FFF2-40B4-BE49-F238E27FC236}">
                <a16:creationId xmlns:a16="http://schemas.microsoft.com/office/drawing/2014/main" id="{FDCABA35-5585-714D-A508-F4B1E3D54977}"/>
              </a:ext>
            </a:extLst>
          </p:cNvPr>
          <p:cNvSpPr>
            <a:spLocks/>
          </p:cNvSpPr>
          <p:nvPr/>
        </p:nvSpPr>
        <p:spPr bwMode="auto">
          <a:xfrm>
            <a:off x="3875088" y="6110288"/>
            <a:ext cx="687387" cy="76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CSV</a:t>
            </a:r>
          </a:p>
          <a:p>
            <a:pPr algn="ctr" eaLnBrk="1" hangingPunct="1">
              <a:spcBef>
                <a:spcPct val="0"/>
              </a:spcBef>
            </a:pPr>
            <a:r>
              <a:rPr lang="en-US" altLang="en-IT" sz="220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8437" name="Line 5">
            <a:extLst>
              <a:ext uri="{FF2B5EF4-FFF2-40B4-BE49-F238E27FC236}">
                <a16:creationId xmlns:a16="http://schemas.microsoft.com/office/drawing/2014/main" id="{BEF90270-5C26-E541-B9E1-BDA8AB71224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4899025" y="6181725"/>
            <a:ext cx="585788" cy="1588"/>
          </a:xfrm>
          <a:prstGeom prst="line">
            <a:avLst/>
          </a:prstGeom>
          <a:noFill/>
          <a:ln w="63500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8438" name="Rectangle 6">
            <a:extLst>
              <a:ext uri="{FF2B5EF4-FFF2-40B4-BE49-F238E27FC236}">
                <a16:creationId xmlns:a16="http://schemas.microsoft.com/office/drawing/2014/main" id="{55098E54-E221-8349-8BEF-C55A39DEF44B}"/>
              </a:ext>
            </a:extLst>
          </p:cNvPr>
          <p:cNvSpPr>
            <a:spLocks/>
          </p:cNvSpPr>
          <p:nvPr/>
        </p:nvSpPr>
        <p:spPr bwMode="auto">
          <a:xfrm>
            <a:off x="1120775" y="8039100"/>
            <a:ext cx="10725150" cy="1474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/>
            <a:r>
              <a:rPr lang="en-US" altLang="en-IT" sz="30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Download from </a:t>
            </a:r>
            <a:r>
              <a:rPr lang="en-US" altLang="en-IT" sz="3000" u="sng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  <a:hlinkClick r:id="rId4"/>
              </a:rPr>
              <a:t>fluxicon.com/disco</a:t>
            </a:r>
            <a:br>
              <a:rPr lang="en-US" altLang="en-IT" sz="3000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</a:br>
            <a:r>
              <a:rPr lang="en-US" altLang="en-IT" sz="24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Sant’Anna is Academic Partner: free license with </a:t>
            </a:r>
            <a:r>
              <a:rPr lang="en-US" altLang="en-IT" sz="2400" b="1" i="1">
                <a:solidFill>
                  <a:srgbClr val="FF0000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@santannapisa.it</a:t>
            </a:r>
            <a:r>
              <a:rPr lang="en-US" altLang="en-IT" sz="24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 email</a:t>
            </a:r>
            <a:endParaRPr lang="en-US" altLang="en-IT" sz="3000" i="1">
              <a:solidFill>
                <a:schemeClr val="tx1"/>
              </a:solidFill>
              <a:latin typeface="Helvetica Neue Light" panose="02000403000000020004" pitchFamily="2" charset="0"/>
              <a:sym typeface="Helvetica Neue Light" panose="02000403000000020004" pitchFamily="2" charset="0"/>
            </a:endParaRPr>
          </a:p>
        </p:txBody>
      </p:sp>
      <p:sp>
        <p:nvSpPr>
          <p:cNvPr id="18439" name="Rectangle 7">
            <a:extLst>
              <a:ext uri="{FF2B5EF4-FFF2-40B4-BE49-F238E27FC236}">
                <a16:creationId xmlns:a16="http://schemas.microsoft.com/office/drawing/2014/main" id="{84CE641D-2B14-6440-8F4A-AAF3325481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Data Analysis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C870A7B9-CA04-E544-86D5-6CCF7AE2262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AutoShape 1">
            <a:extLst>
              <a:ext uri="{FF2B5EF4-FFF2-40B4-BE49-F238E27FC236}">
                <a16:creationId xmlns:a16="http://schemas.microsoft.com/office/drawing/2014/main" id="{2ABE70B8-BDD3-8A42-90D9-0C3CFEF4E5F6}"/>
              </a:ext>
            </a:extLst>
          </p:cNvPr>
          <p:cNvSpPr>
            <a:spLocks/>
          </p:cNvSpPr>
          <p:nvPr/>
        </p:nvSpPr>
        <p:spPr bwMode="auto">
          <a:xfrm>
            <a:off x="5600700" y="3403600"/>
            <a:ext cx="2413000" cy="2298700"/>
          </a:xfrm>
          <a:prstGeom prst="roundRect">
            <a:avLst>
              <a:gd name="adj" fmla="val 8287"/>
            </a:avLst>
          </a:prstGeom>
          <a:gradFill rotWithShape="0">
            <a:gsLst>
              <a:gs pos="0">
                <a:srgbClr val="E8E8E8"/>
              </a:gs>
              <a:gs pos="100000">
                <a:srgbClr val="BBBBBB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19458" name="Rectangle 3">
            <a:extLst>
              <a:ext uri="{FF2B5EF4-FFF2-40B4-BE49-F238E27FC236}">
                <a16:creationId xmlns:a16="http://schemas.microsoft.com/office/drawing/2014/main" id="{B54A5CA5-B9A7-8246-B9BC-241D9468082B}"/>
              </a:ext>
            </a:extLst>
          </p:cNvPr>
          <p:cNvSpPr>
            <a:spLocks/>
          </p:cNvSpPr>
          <p:nvPr/>
        </p:nvSpPr>
        <p:spPr bwMode="auto">
          <a:xfrm>
            <a:off x="4779963" y="6219825"/>
            <a:ext cx="4049712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500" i="1">
                <a:solidFill>
                  <a:schemeClr val="tx1"/>
                </a:solidFill>
                <a:latin typeface="Helvetica Neue Light" panose="02000403000000020004" pitchFamily="2" charset="0"/>
                <a:sym typeface="Helvetica Neue Light" panose="02000403000000020004" pitchFamily="2" charset="0"/>
              </a:rPr>
              <a:t>Focus of this session</a:t>
            </a:r>
          </a:p>
        </p:txBody>
      </p:sp>
      <p:sp>
        <p:nvSpPr>
          <p:cNvPr id="19459" name="Rectangle 4">
            <a:extLst>
              <a:ext uri="{FF2B5EF4-FFF2-40B4-BE49-F238E27FC236}">
                <a16:creationId xmlns:a16="http://schemas.microsoft.com/office/drawing/2014/main" id="{93B8D134-B00F-894C-A55D-B8E12238CB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Roadmap</a:t>
            </a:r>
          </a:p>
        </p:txBody>
      </p:sp>
      <p:pic>
        <p:nvPicPr>
          <p:cNvPr id="19460" name="Picture 5" descr="phases-4_transparent.pdf">
            <a:extLst>
              <a:ext uri="{FF2B5EF4-FFF2-40B4-BE49-F238E27FC236}">
                <a16:creationId xmlns:a16="http://schemas.microsoft.com/office/drawing/2014/main" id="{DC5F14C6-4BB7-8241-8CAE-A818EBD15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00" y="3895725"/>
            <a:ext cx="8999538" cy="136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0DC3126-B2DE-2343-9C79-9D6F676D07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E66D03D-496B-2941-92C0-1A0766FE2A1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680592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1">
            <a:extLst>
              <a:ext uri="{FF2B5EF4-FFF2-40B4-BE49-F238E27FC236}">
                <a16:creationId xmlns:a16="http://schemas.microsoft.com/office/drawing/2014/main" id="{A215BE5F-EFD8-4844-8739-8D59429CF6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073400" y="3746500"/>
            <a:ext cx="6604000" cy="9017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Let’s get started!</a:t>
            </a:r>
          </a:p>
        </p:txBody>
      </p:sp>
      <p:sp>
        <p:nvSpPr>
          <p:cNvPr id="21506" name="Rectangle 2">
            <a:extLst>
              <a:ext uri="{FF2B5EF4-FFF2-40B4-BE49-F238E27FC236}">
                <a16:creationId xmlns:a16="http://schemas.microsoft.com/office/drawing/2014/main" id="{5F723627-0182-4A44-A4C1-EF7DFCE950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60700" y="2070100"/>
            <a:ext cx="6870700" cy="1270000"/>
          </a:xfrm>
        </p:spPr>
        <p:txBody>
          <a:bodyPr/>
          <a:lstStyle/>
          <a:p>
            <a:pPr eaLnBrk="1" hangingPunct="1"/>
            <a:r>
              <a:rPr lang="en-US" altLang="en-IT"/>
              <a:t>Hands-on Session </a:t>
            </a:r>
          </a:p>
        </p:txBody>
      </p:sp>
      <p:pic>
        <p:nvPicPr>
          <p:cNvPr id="21507" name="Picture 3">
            <a:extLst>
              <a:ext uri="{FF2B5EF4-FFF2-40B4-BE49-F238E27FC236}">
                <a16:creationId xmlns:a16="http://schemas.microsoft.com/office/drawing/2014/main" id="{1A6614A4-1ACF-F644-A0BE-366847381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3400" y="5486400"/>
            <a:ext cx="6604000" cy="295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B97F5930-59A0-4D42-9FAF-0941C2C0A8E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">
            <a:extLst>
              <a:ext uri="{FF2B5EF4-FFF2-40B4-BE49-F238E27FC236}">
                <a16:creationId xmlns:a16="http://schemas.microsoft.com/office/drawing/2014/main" id="{A6768AF5-C7F4-3B49-9DAC-8A8669D267A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3073400"/>
            <a:ext cx="11056938" cy="6388100"/>
          </a:xfrm>
        </p:spPr>
        <p:txBody>
          <a:bodyPr/>
          <a:lstStyle/>
          <a:p>
            <a:pPr marL="0" indent="0" eaLnBrk="1" hangingPunct="1"/>
            <a:r>
              <a:rPr lang="en-US" altLang="en-IT" dirty="0"/>
              <a:t>Open </a:t>
            </a:r>
            <a:r>
              <a:rPr lang="en-US" altLang="en-IT" b="1" dirty="0" err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 dirty="0"/>
              <a:t> file in python/pandas (or Excel) and inspect its contents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Every row corresponds to one event</a:t>
            </a:r>
          </a:p>
          <a:p>
            <a:pPr marL="635000" lvl="1" eaLnBrk="1" hangingPunct="1">
              <a:buFontTx/>
              <a:buChar char="-"/>
            </a:pPr>
            <a:r>
              <a:rPr lang="en-US" altLang="en-IT" dirty="0"/>
              <a:t>You find information on Case IDs, Activities, Start and end times, Resources, Roles</a:t>
            </a:r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F8373FFC-671C-A344-A763-FD2C4CC05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1 - Inspect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2D40A32-5E44-FD42-9EFE-DCEA1E2682E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3" name="Picture 1">
            <a:extLst>
              <a:ext uri="{FF2B5EF4-FFF2-40B4-BE49-F238E27FC236}">
                <a16:creationId xmlns:a16="http://schemas.microsoft.com/office/drawing/2014/main" id="{5D75BA4F-F3BF-3D4D-BFC4-CE43A54C2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00" y="1016000"/>
            <a:ext cx="11836400" cy="910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54" name="Rectangle 1">
            <a:extLst>
              <a:ext uri="{FF2B5EF4-FFF2-40B4-BE49-F238E27FC236}">
                <a16:creationId xmlns:a16="http://schemas.microsoft.com/office/drawing/2014/main" id="{D6C9A0A7-AA90-F14A-8C73-E533D98CA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9063" y="412750"/>
            <a:ext cx="3478212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excel…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CDCD50-91A0-144A-9234-608E861440D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29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7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D1BC811-7CF8-1F48-A34F-8200CD82D4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578" name="Picture 7">
            <a:extLst>
              <a:ext uri="{FF2B5EF4-FFF2-40B4-BE49-F238E27FC236}">
                <a16:creationId xmlns:a16="http://schemas.microsoft.com/office/drawing/2014/main" id="{957AC537-CB8D-2144-9D46-2E51E94EF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7538" y="3430588"/>
            <a:ext cx="10807700" cy="46863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579" name="Rectangle 1">
            <a:extLst>
              <a:ext uri="{FF2B5EF4-FFF2-40B4-BE49-F238E27FC236}">
                <a16:creationId xmlns:a16="http://schemas.microsoft.com/office/drawing/2014/main" id="{EE7BFADB-5CC5-7347-917B-F604FC756C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D72415CA-A9D3-2848-869D-EE89EB041FD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1" name="Picture 4" descr="Graphical user interface, text, application, table&#10;&#10;Description automatically generated">
            <a:extLst>
              <a:ext uri="{FF2B5EF4-FFF2-40B4-BE49-F238E27FC236}">
                <a16:creationId xmlns:a16="http://schemas.microsoft.com/office/drawing/2014/main" id="{92331D41-64E3-C349-9592-166E3F56E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50" y="3436938"/>
            <a:ext cx="10207625" cy="6135687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602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3FEC172-4C34-A547-B524-CFEAA673F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603" name="Rectangle 1">
            <a:extLst>
              <a:ext uri="{FF2B5EF4-FFF2-40B4-BE49-F238E27FC236}">
                <a16:creationId xmlns:a16="http://schemas.microsoft.com/office/drawing/2014/main" id="{E36EC89B-FC13-B547-B3C1-222705FD3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5" name="Picture 2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F6BBEC51-EA4A-A64B-B42E-B0AE42C444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900" y="196850"/>
            <a:ext cx="5122863" cy="2997200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626" name="Picture 3">
            <a:extLst>
              <a:ext uri="{FF2B5EF4-FFF2-40B4-BE49-F238E27FC236}">
                <a16:creationId xmlns:a16="http://schemas.microsoft.com/office/drawing/2014/main" id="{B38D8661-2170-B64B-8CE9-AFB4FF47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488" y="2106613"/>
            <a:ext cx="10206037" cy="759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6627" name="Rectangle 1">
            <a:extLst>
              <a:ext uri="{FF2B5EF4-FFF2-40B4-BE49-F238E27FC236}">
                <a16:creationId xmlns:a16="http://schemas.microsoft.com/office/drawing/2014/main" id="{464567E5-A7E5-2B48-8E6E-4F147B6F9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200" y="412750"/>
            <a:ext cx="5595938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/>
            <a:r>
              <a:rPr lang="en-US" altLang="en-IT"/>
              <a:t>If using pandas (python)…</a:t>
            </a: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1">
            <a:extLst>
              <a:ext uri="{FF2B5EF4-FFF2-40B4-BE49-F238E27FC236}">
                <a16:creationId xmlns:a16="http://schemas.microsoft.com/office/drawing/2014/main" id="{A8CEFC13-B9D6-D84A-B455-5F06EE9724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65200" y="2819400"/>
            <a:ext cx="10858500" cy="66675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Load </a:t>
            </a:r>
            <a:r>
              <a:rPr lang="en-US" altLang="en-IT" b="1">
                <a:latin typeface="Courier" pitchFamily="2" charset="0"/>
                <a:sym typeface="Courier" pitchFamily="2" charset="0"/>
              </a:rPr>
              <a:t>PurchasingExample.csv</a:t>
            </a:r>
            <a:r>
              <a:rPr lang="en-US" altLang="en-IT"/>
              <a:t> in Disco</a:t>
            </a:r>
            <a:br>
              <a:rPr lang="en-US" altLang="en-IT"/>
            </a:br>
            <a:br>
              <a:rPr lang="en-US" altLang="en-IT"/>
            </a:br>
            <a:r>
              <a:rPr lang="en-US" altLang="en-IT"/>
              <a:t>Assign columns as follows:</a:t>
            </a:r>
          </a:p>
          <a:p>
            <a:pPr marL="1295400" lvl="2" eaLnBrk="1" hangingPunct="1">
              <a:spcBef>
                <a:spcPts val="1100"/>
              </a:spcBef>
            </a:pPr>
            <a:r>
              <a:rPr lang="en-US" altLang="en-IT"/>
              <a:t>Case ID ➞ Case ID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Start and Complete Timestamp ➞ Timestamp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Activity ➞ Activity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Resource ➞ Resource</a:t>
            </a:r>
          </a:p>
          <a:p>
            <a:pPr marL="1295400" lvl="2" eaLnBrk="1" hangingPunct="1">
              <a:spcBef>
                <a:spcPts val="500"/>
              </a:spcBef>
            </a:pPr>
            <a:r>
              <a:rPr lang="en-US" altLang="en-IT"/>
              <a:t>Role ➞ Other</a:t>
            </a:r>
          </a:p>
          <a:p>
            <a:pPr marL="254000" indent="0" eaLnBrk="1" hangingPunct="1">
              <a:spcBef>
                <a:spcPts val="2900"/>
              </a:spcBef>
            </a:pPr>
            <a:r>
              <a:rPr lang="en-US" altLang="en-IT"/>
              <a:t>Click ‘Start import’ </a:t>
            </a:r>
          </a:p>
        </p:txBody>
      </p:sp>
      <p:sp>
        <p:nvSpPr>
          <p:cNvPr id="27650" name="Rectangle 2">
            <a:extLst>
              <a:ext uri="{FF2B5EF4-FFF2-40B4-BE49-F238E27FC236}">
                <a16:creationId xmlns:a16="http://schemas.microsoft.com/office/drawing/2014/main" id="{A35C466D-F4C7-754D-BC1C-1899FB1F3C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2 - Import Data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90607E1-3BAD-C245-BC36-7F74B1FEFF0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3" name="Picture 1">
            <a:extLst>
              <a:ext uri="{FF2B5EF4-FFF2-40B4-BE49-F238E27FC236}">
                <a16:creationId xmlns:a16="http://schemas.microsoft.com/office/drawing/2014/main" id="{A3DE9BFD-8313-1A43-95B2-1C663E153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9398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37DD786-8AA7-6145-8534-16531BCD856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1">
            <a:extLst>
              <a:ext uri="{FF2B5EF4-FFF2-40B4-BE49-F238E27FC236}">
                <a16:creationId xmlns:a16="http://schemas.microsoft.com/office/drawing/2014/main" id="{DEE06E07-9C9F-3C43-B3F4-008A3D0FB6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1239500" cy="57912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Look at the resulting process model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Numbers in rectangles are activity frequencies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Number at arcs is frequency of connection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>
                <a:cs typeface="Lucida Grande" panose="020B0600040502020204" pitchFamily="34" charset="0"/>
              </a:rPr>
              <a:t>→ You see the main process flows</a:t>
            </a:r>
            <a:endParaRPr lang="en-US" altLang="en-IT"/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All 608 cases start with activity ‘Create Purchase Requisition’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Lots of changes were made (amendments)! </a:t>
            </a:r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B866C580-3AF7-C04E-A48E-E30DDD0BC7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A8EB833-4604-964E-AFC1-8617D62452C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1">
            <a:extLst>
              <a:ext uri="{FF2B5EF4-FFF2-40B4-BE49-F238E27FC236}">
                <a16:creationId xmlns:a16="http://schemas.microsoft.com/office/drawing/2014/main" id="{4E4750B0-AF18-AC4D-88BA-35735E658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650" name="AutoShape 2">
            <a:extLst>
              <a:ext uri="{FF2B5EF4-FFF2-40B4-BE49-F238E27FC236}">
                <a16:creationId xmlns:a16="http://schemas.microsoft.com/office/drawing/2014/main" id="{9DF559D3-00AE-A54E-8B6B-313DBC153C9E}"/>
              </a:ext>
            </a:extLst>
          </p:cNvPr>
          <p:cNvSpPr>
            <a:spLocks/>
          </p:cNvSpPr>
          <p:nvPr/>
        </p:nvSpPr>
        <p:spPr bwMode="auto">
          <a:xfrm>
            <a:off x="7340600" y="1193800"/>
            <a:ext cx="3187700" cy="1003300"/>
          </a:xfrm>
          <a:custGeom>
            <a:avLst/>
            <a:gdLst>
              <a:gd name="T0" fmla="+- 0 10800 3108"/>
              <a:gd name="T1" fmla="*/ T0 w 18492"/>
              <a:gd name="T2" fmla="*/ 10800 h 14647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4647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0939"/>
                </a:lnTo>
                <a:cubicBezTo>
                  <a:pt x="0" y="11185"/>
                  <a:pt x="12" y="11425"/>
                  <a:pt x="30" y="11658"/>
                </a:cubicBezTo>
                <a:lnTo>
                  <a:pt x="-3108" y="21600"/>
                </a:lnTo>
                <a:lnTo>
                  <a:pt x="1080" y="14497"/>
                </a:lnTo>
                <a:cubicBezTo>
                  <a:pt x="1206" y="14585"/>
                  <a:pt x="1336" y="14647"/>
                  <a:pt x="1474" y="14647"/>
                </a:cubicBezTo>
                <a:lnTo>
                  <a:pt x="17019" y="14647"/>
                </a:lnTo>
                <a:cubicBezTo>
                  <a:pt x="17832" y="14647"/>
                  <a:pt x="18492" y="12987"/>
                  <a:pt x="18492" y="10939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Start point</a:t>
            </a:r>
          </a:p>
        </p:txBody>
      </p:sp>
      <p:sp>
        <p:nvSpPr>
          <p:cNvPr id="30723" name="AutoShape 3">
            <a:extLst>
              <a:ext uri="{FF2B5EF4-FFF2-40B4-BE49-F238E27FC236}">
                <a16:creationId xmlns:a16="http://schemas.microsoft.com/office/drawing/2014/main" id="{B09B66CC-397C-2348-88AD-F1CDFCF93BF5}"/>
              </a:ext>
            </a:extLst>
          </p:cNvPr>
          <p:cNvSpPr>
            <a:spLocks/>
          </p:cNvSpPr>
          <p:nvPr/>
        </p:nvSpPr>
        <p:spPr bwMode="auto">
          <a:xfrm>
            <a:off x="4051300" y="5994400"/>
            <a:ext cx="2438400" cy="1422400"/>
          </a:xfrm>
          <a:prstGeom prst="roundRect">
            <a:avLst>
              <a:gd name="adj" fmla="val 13389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F026FC58-FB4B-B541-9CBE-EE25F9B4900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1">
            <a:extLst>
              <a:ext uri="{FF2B5EF4-FFF2-40B4-BE49-F238E27FC236}">
                <a16:creationId xmlns:a16="http://schemas.microsoft.com/office/drawing/2014/main" id="{FE778076-B313-0B4A-9FC7-40D6FFAAB5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It’s important to be able to adjust the level of detail for the process map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3300"/>
              </a:spcBef>
            </a:pPr>
            <a:r>
              <a:rPr lang="en-US" altLang="en-IT"/>
              <a:t>Move up the ‘Activities’ slider down to lowest position (0%)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Only the activities from the most frequent process variant are shown</a:t>
            </a:r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5C48DF6B-E22E-704A-8F70-E6398C918D7F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AA50A064-FD22-9544-BAB9-BCFF2C6B56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>
            <a:extLst>
              <a:ext uri="{FF2B5EF4-FFF2-40B4-BE49-F238E27FC236}">
                <a16:creationId xmlns:a16="http://schemas.microsoft.com/office/drawing/2014/main" id="{5A15D7EB-605A-0C4F-926E-9E04C0031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2461B235-E586-FF46-935F-2A2E227507D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1">
            <a:extLst>
              <a:ext uri="{FF2B5EF4-FFF2-40B4-BE49-F238E27FC236}">
                <a16:creationId xmlns:a16="http://schemas.microsoft.com/office/drawing/2014/main" id="{FC204DBD-A00E-8140-AE8A-28DF091F68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Gradually move the ‘Activities’ slider up to 100% again until all activities are shown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Even infrequent activities such as ‘Amend Purchase Requisition’ are shown</a:t>
            </a:r>
          </a:p>
          <a:p>
            <a:pPr marL="25400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254000" indent="0" eaLnBrk="1" hangingPunct="1">
              <a:lnSpc>
                <a:spcPct val="80000"/>
              </a:lnSpc>
              <a:spcBef>
                <a:spcPts val="2500"/>
              </a:spcBef>
            </a:pPr>
            <a:r>
              <a:rPr lang="en-US" altLang="en-IT"/>
              <a:t>You’ll notice that 11 cases are flowing in to ‘Amend Purchase Requisition’ but only 8 are moving out - Where are the other 3?</a:t>
            </a:r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CA0461F2-207D-F048-93DB-5210EA3264C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1F4DD7-C42F-5F4F-9704-6296AB9613A7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39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7" name="Picture 1">
            <a:extLst>
              <a:ext uri="{FF2B5EF4-FFF2-40B4-BE49-F238E27FC236}">
                <a16:creationId xmlns:a16="http://schemas.microsoft.com/office/drawing/2014/main" id="{A713E145-8BB6-7442-A1CD-8095CD34D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4818" name="AutoShape 2">
            <a:extLst>
              <a:ext uri="{FF2B5EF4-FFF2-40B4-BE49-F238E27FC236}">
                <a16:creationId xmlns:a16="http://schemas.microsoft.com/office/drawing/2014/main" id="{03A45FDC-CA44-0945-8585-79E83A15E71A}"/>
              </a:ext>
            </a:extLst>
          </p:cNvPr>
          <p:cNvSpPr>
            <a:spLocks/>
          </p:cNvSpPr>
          <p:nvPr/>
        </p:nvSpPr>
        <p:spPr bwMode="auto">
          <a:xfrm>
            <a:off x="6578600" y="4584700"/>
            <a:ext cx="1930400" cy="1092200"/>
          </a:xfrm>
          <a:prstGeom prst="roundRect">
            <a:avLst>
              <a:gd name="adj" fmla="val 17440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4CBE47-10BC-694B-835F-EC6BC156DC6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1">
            <a:extLst>
              <a:ext uri="{FF2B5EF4-FFF2-40B4-BE49-F238E27FC236}">
                <a16:creationId xmlns:a16="http://schemas.microsoft.com/office/drawing/2014/main" id="{A315E45B-6821-274E-8CBE-93BAA6F95A6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90600" y="3073400"/>
            <a:ext cx="10553700" cy="5334000"/>
          </a:xfrm>
        </p:spPr>
        <p:txBody>
          <a:bodyPr/>
          <a:lstStyle/>
          <a:p>
            <a:pPr marL="254000" indent="0" eaLnBrk="1" hangingPunct="1"/>
            <a:r>
              <a:rPr lang="en-US" altLang="en-IT"/>
              <a:t>Move up the ‘Paths’ slider up to the top</a:t>
            </a:r>
            <a:br>
              <a:rPr lang="en-US" altLang="en-IT"/>
            </a:br>
            <a:endParaRPr lang="en-US" altLang="en-IT"/>
          </a:p>
          <a:p>
            <a:pPr marL="254000" indent="0" eaLnBrk="1" hangingPunct="1">
              <a:spcBef>
                <a:spcPts val="2500"/>
              </a:spcBef>
            </a:pPr>
            <a:r>
              <a:rPr lang="en-US" altLang="en-IT"/>
              <a:t>You now see a 100% detailed picture of the executed process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The 3 missing cases move from ‘Amend Purchase Requisition’ to ‘Create Request for Quotation’</a:t>
            </a:r>
          </a:p>
        </p:txBody>
      </p:sp>
      <p:sp>
        <p:nvSpPr>
          <p:cNvPr id="35842" name="Rectangle 2">
            <a:extLst>
              <a:ext uri="{FF2B5EF4-FFF2-40B4-BE49-F238E27FC236}">
                <a16:creationId xmlns:a16="http://schemas.microsoft.com/office/drawing/2014/main" id="{34CD3CC9-FD5F-3F47-8DBC-585AC2FA8E83}"/>
              </a:ext>
            </a:extLst>
          </p:cNvPr>
          <p:cNvSpPr>
            <a:spLocks/>
          </p:cNvSpPr>
          <p:nvPr/>
        </p:nvSpPr>
        <p:spPr bwMode="auto">
          <a:xfrm>
            <a:off x="1206500" y="1270000"/>
            <a:ext cx="10553700" cy="127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en-US" altLang="en-IT" sz="7000">
                <a:solidFill>
                  <a:srgbClr val="4D4D4D"/>
                </a:solidFill>
                <a:latin typeface="Helvetica Neue UltraLight" panose="02000206000000020004" pitchFamily="2" charset="0"/>
                <a:sym typeface="Helvetica Neue UltraLight" panose="02000206000000020004" pitchFamily="2" charset="0"/>
              </a:rPr>
              <a:t>Step 3 - Inspect Process 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CC5C232D-E69F-3944-9773-542644F4033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5" name="Picture 1">
            <a:extLst>
              <a:ext uri="{FF2B5EF4-FFF2-40B4-BE49-F238E27FC236}">
                <a16:creationId xmlns:a16="http://schemas.microsoft.com/office/drawing/2014/main" id="{AC305C9A-043A-5C47-A0DE-406E2390C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9183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6866" name="AutoShape 2">
            <a:extLst>
              <a:ext uri="{FF2B5EF4-FFF2-40B4-BE49-F238E27FC236}">
                <a16:creationId xmlns:a16="http://schemas.microsoft.com/office/drawing/2014/main" id="{FA23706C-B568-414E-838C-7782C371030B}"/>
              </a:ext>
            </a:extLst>
          </p:cNvPr>
          <p:cNvSpPr>
            <a:spLocks/>
          </p:cNvSpPr>
          <p:nvPr/>
        </p:nvSpPr>
        <p:spPr bwMode="auto">
          <a:xfrm>
            <a:off x="5435600" y="6223000"/>
            <a:ext cx="533400" cy="520700"/>
          </a:xfrm>
          <a:prstGeom prst="roundRect">
            <a:avLst>
              <a:gd name="adj" fmla="val 36583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6365DA1-EC15-4443-A075-112C42D072D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Rectangle 1">
            <a:extLst>
              <a:ext uri="{FF2B5EF4-FFF2-40B4-BE49-F238E27FC236}">
                <a16:creationId xmlns:a16="http://schemas.microsoft.com/office/drawing/2014/main" id="{7E273AC6-3716-9A43-B3F0-B32B15BA55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Look at ‘Statistics’ tab to see ‘Overview’ information about the event log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9,119 events were recorded for 608 cases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Timeframe is January - October 2011</a:t>
            </a:r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  <a:buSzPct val="125000"/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1600"/>
              </a:spcBef>
            </a:pPr>
            <a:r>
              <a:rPr lang="en-US" altLang="en-IT"/>
              <a:t>The ‘Case duration’ is typically up to 15 or 16 days, but some cases take very long (more than 70 or 80 days!)</a:t>
            </a:r>
          </a:p>
        </p:txBody>
      </p:sp>
      <p:sp>
        <p:nvSpPr>
          <p:cNvPr id="37890" name="Rectangle 2">
            <a:extLst>
              <a:ext uri="{FF2B5EF4-FFF2-40B4-BE49-F238E27FC236}">
                <a16:creationId xmlns:a16="http://schemas.microsoft.com/office/drawing/2014/main" id="{9D990F87-C77A-0A44-9C1F-2C16E216B9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4 - Inspect Statistics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FEA3E39-45AB-6744-8374-3D2F7B48C98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3" name="Picture 1">
            <a:extLst>
              <a:ext uri="{FF2B5EF4-FFF2-40B4-BE49-F238E27FC236}">
                <a16:creationId xmlns:a16="http://schemas.microsoft.com/office/drawing/2014/main" id="{098F23F5-D1FE-8346-A039-604C8EA56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3C10F798-1C26-5741-98EE-3DA7BECC6CFD}"/>
              </a:ext>
            </a:extLst>
          </p:cNvPr>
          <p:cNvSpPr>
            <a:spLocks/>
          </p:cNvSpPr>
          <p:nvPr/>
        </p:nvSpPr>
        <p:spPr bwMode="auto">
          <a:xfrm>
            <a:off x="7594600" y="4241800"/>
            <a:ext cx="2070100" cy="1181100"/>
          </a:xfrm>
          <a:prstGeom prst="roundRect">
            <a:avLst>
              <a:gd name="adj" fmla="val 16125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9003B01-E47A-3545-8B3A-71B6B93586A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Rectangle 1">
            <a:extLst>
              <a:ext uri="{FF2B5EF4-FFF2-40B4-BE49-F238E27FC236}">
                <a16:creationId xmlns:a16="http://schemas.microsoft.com/office/drawing/2014/main" id="{B11A0458-73B7-7D41-A3AB-709D5DF6AB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33500" y="2933700"/>
            <a:ext cx="10553700" cy="64135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Select ‘Cases’ tab to inspect variants and individual service instances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  <a:defRPr/>
            </a:pPr>
            <a:r>
              <a:rPr lang="en-US" altLang="en-IT" dirty="0"/>
              <a:t>The third most frequent process variant ends after ‘Analyze Purchase Requisition’ (ca. 10.36% of all cases follow this pattern)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  <a:defRPr/>
            </a:pPr>
            <a:endParaRPr lang="en-US" altLang="en-IT" dirty="0"/>
          </a:p>
          <a:p>
            <a:pPr marL="0" indent="0" eaLnBrk="1" hangingPunct="1">
              <a:spcBef>
                <a:spcPts val="1600"/>
              </a:spcBef>
              <a:defRPr/>
            </a:pPr>
            <a:r>
              <a:rPr lang="en-US" altLang="en-IT" dirty="0">
                <a:cs typeface="Lucida Grande" panose="020B0600040502020204" pitchFamily="34" charset="0"/>
              </a:rPr>
              <a:t>→ Why are so many requests abrupted?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Do people not know what they can buy? </a:t>
            </a:r>
          </a:p>
          <a:p>
            <a:pPr marL="1181100" lvl="2" indent="-457200" eaLnBrk="1" hangingPunct="1">
              <a:spcBef>
                <a:spcPts val="1600"/>
              </a:spcBef>
              <a:buFontTx/>
              <a:buChar char="-"/>
              <a:defRPr/>
            </a:pPr>
            <a:r>
              <a:rPr lang="en-US" altLang="en-IT" sz="2400" dirty="0">
                <a:cs typeface="Lucida Grande" panose="020B0600040502020204" pitchFamily="34" charset="0"/>
              </a:rPr>
              <a:t>We can find this back in the process map, too</a:t>
            </a:r>
            <a:endParaRPr lang="en-US" altLang="en-IT" sz="2400" dirty="0"/>
          </a:p>
        </p:txBody>
      </p:sp>
      <p:sp>
        <p:nvSpPr>
          <p:cNvPr id="39938" name="Rectangle 2">
            <a:extLst>
              <a:ext uri="{FF2B5EF4-FFF2-40B4-BE49-F238E27FC236}">
                <a16:creationId xmlns:a16="http://schemas.microsoft.com/office/drawing/2014/main" id="{A79AB70C-23EA-544D-855C-26BFCBB39A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Step 5 - Inspect Cases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0DA11628-E848-A941-94E7-A1714E2BCE5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1" name="Picture 1">
            <a:extLst>
              <a:ext uri="{FF2B5EF4-FFF2-40B4-BE49-F238E27FC236}">
                <a16:creationId xmlns:a16="http://schemas.microsoft.com/office/drawing/2014/main" id="{1321EF67-F602-6346-9EFF-CDB8A33A1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3D97DE7-AAE2-1F4F-9AFF-A55CEBB31DD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5" name="Picture 1">
            <a:extLst>
              <a:ext uri="{FF2B5EF4-FFF2-40B4-BE49-F238E27FC236}">
                <a16:creationId xmlns:a16="http://schemas.microsoft.com/office/drawing/2014/main" id="{B1839976-CEDB-A34F-B449-9740D0B6F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4" name="AutoShape 2">
            <a:extLst>
              <a:ext uri="{FF2B5EF4-FFF2-40B4-BE49-F238E27FC236}">
                <a16:creationId xmlns:a16="http://schemas.microsoft.com/office/drawing/2014/main" id="{C5EFA58B-AEA8-B145-959B-796EADB1F580}"/>
              </a:ext>
            </a:extLst>
          </p:cNvPr>
          <p:cNvSpPr>
            <a:spLocks/>
          </p:cNvSpPr>
          <p:nvPr/>
        </p:nvSpPr>
        <p:spPr bwMode="auto">
          <a:xfrm>
            <a:off x="8229600" y="4000500"/>
            <a:ext cx="3187700" cy="1181100"/>
          </a:xfrm>
          <a:custGeom>
            <a:avLst/>
            <a:gdLst>
              <a:gd name="T0" fmla="+- 0 10800 3108"/>
              <a:gd name="T1" fmla="*/ T0 w 18492"/>
              <a:gd name="T2" fmla="*/ 10800 h 17243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8492" h="17243">
                <a:moveTo>
                  <a:pt x="1474" y="0"/>
                </a:moveTo>
                <a:cubicBezTo>
                  <a:pt x="660" y="0"/>
                  <a:pt x="0" y="1660"/>
                  <a:pt x="0" y="3708"/>
                </a:cubicBezTo>
                <a:lnTo>
                  <a:pt x="0" y="13535"/>
                </a:lnTo>
                <a:cubicBezTo>
                  <a:pt x="0" y="13602"/>
                  <a:pt x="6" y="13665"/>
                  <a:pt x="7" y="13732"/>
                </a:cubicBezTo>
                <a:lnTo>
                  <a:pt x="-3108" y="21600"/>
                </a:lnTo>
                <a:lnTo>
                  <a:pt x="893" y="16942"/>
                </a:lnTo>
                <a:cubicBezTo>
                  <a:pt x="1072" y="17134"/>
                  <a:pt x="1267" y="17243"/>
                  <a:pt x="1474" y="17243"/>
                </a:cubicBezTo>
                <a:lnTo>
                  <a:pt x="17019" y="17243"/>
                </a:lnTo>
                <a:cubicBezTo>
                  <a:pt x="17832" y="17243"/>
                  <a:pt x="18492" y="15583"/>
                  <a:pt x="18492" y="13535"/>
                </a:cubicBezTo>
                <a:lnTo>
                  <a:pt x="18492" y="3708"/>
                </a:lnTo>
                <a:cubicBezTo>
                  <a:pt x="18492" y="1660"/>
                  <a:pt x="17832" y="0"/>
                  <a:pt x="17019" y="0"/>
                </a:cubicBezTo>
                <a:lnTo>
                  <a:pt x="1474" y="0"/>
                </a:lnTo>
                <a:close/>
                <a:moveTo>
                  <a:pt x="147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 eaLnBrk="1" hangingPunct="1">
              <a:defRPr/>
            </a:pP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Leading to </a:t>
            </a:r>
            <a:b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</a:br>
            <a:r>
              <a:rPr lang="en-US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charset="0"/>
                <a:ea typeface="Helvetica Neue" charset="0"/>
                <a:cs typeface="Helvetica Neue" charset="0"/>
                <a:sym typeface="Helvetica Neue" charset="0"/>
              </a:rPr>
              <a:t>End point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357CC22E-842F-7548-BF32-6C0FF7A728F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1">
            <a:extLst>
              <a:ext uri="{FF2B5EF4-FFF2-40B4-BE49-F238E27FC236}">
                <a16:creationId xmlns:a16="http://schemas.microsoft.com/office/drawing/2014/main" id="{2C40AB8E-69FE-F842-9B60-19F704EAF7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Original Questions:  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>
                <a:solidFill>
                  <a:srgbClr val="9A9A9A"/>
                </a:solidFill>
              </a:rPr>
              <a:t>Are there deviations from the prescribed process?</a:t>
            </a:r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days): </a:t>
            </a:r>
            <a:br>
              <a:rPr lang="en-US" altLang="en-IT" sz="3000"/>
            </a:br>
            <a:r>
              <a:rPr lang="en-US" altLang="en-IT" sz="3000">
                <a:solidFill>
                  <a:srgbClr val="8F3E05"/>
                </a:solidFill>
              </a:rPr>
              <a:t>Is there a bottleneck in the process? 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000" b="1">
              <a:solidFill>
                <a:srgbClr val="8F3E05"/>
              </a:solidFill>
              <a:ea typeface="ヒラギノ角ゴ ProN W6" panose="020B0300000000000000" pitchFamily="34" charset="-128"/>
            </a:endParaRPr>
          </a:p>
        </p:txBody>
      </p:sp>
      <p:sp>
        <p:nvSpPr>
          <p:cNvPr id="43010" name="Rectangle 2">
            <a:extLst>
              <a:ext uri="{FF2B5EF4-FFF2-40B4-BE49-F238E27FC236}">
                <a16:creationId xmlns:a16="http://schemas.microsoft.com/office/drawing/2014/main" id="{549D34AB-4F1B-CC49-9AFB-EE563B3B23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43011" name="Picture 3">
            <a:extLst>
              <a:ext uri="{FF2B5EF4-FFF2-40B4-BE49-F238E27FC236}">
                <a16:creationId xmlns:a16="http://schemas.microsoft.com/office/drawing/2014/main" id="{960FA1B9-3CFB-294B-9365-C12F74D68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987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8E84195-FC88-5947-9586-72F7C3E223F3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1">
            <a:extLst>
              <a:ext uri="{FF2B5EF4-FFF2-40B4-BE49-F238E27FC236}">
                <a16:creationId xmlns:a16="http://schemas.microsoft.com/office/drawing/2014/main" id="{5B0AF845-FF16-884D-9572-91AA8EC328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82700" y="2933700"/>
            <a:ext cx="106045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Click on the Filter symbol in the lower left corner and add a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Select 21 days as lower boundary</a:t>
            </a:r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r>
              <a:rPr lang="en-US" altLang="en-IT"/>
              <a:t>You’ll see that ca. 15% of the purchase orders take longer than 21 days</a:t>
            </a:r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br>
              <a:rPr lang="en-US" altLang="en-IT"/>
            </a:br>
            <a:r>
              <a:rPr lang="en-US" altLang="en-IT"/>
              <a:t>Press ‘Apply filter’ to focus only on those cases that take longer than 21 days</a:t>
            </a:r>
          </a:p>
        </p:txBody>
      </p:sp>
      <p:sp>
        <p:nvSpPr>
          <p:cNvPr id="44034" name="Rectangle 2">
            <a:extLst>
              <a:ext uri="{FF2B5EF4-FFF2-40B4-BE49-F238E27FC236}">
                <a16:creationId xmlns:a16="http://schemas.microsoft.com/office/drawing/2014/main" id="{DAA001B1-30D5-324E-831D-4962E8C29A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6 - Filter on Performance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41A5220-955A-6E4C-ADEB-5641C3C867E8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49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>
            <a:extLst>
              <a:ext uri="{FF2B5EF4-FFF2-40B4-BE49-F238E27FC236}">
                <a16:creationId xmlns:a16="http://schemas.microsoft.com/office/drawing/2014/main" id="{BBFEBE92-43E5-184D-8A8D-0C8D069E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4800" y="901700"/>
            <a:ext cx="125095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5058" name="Picture 2">
            <a:extLst>
              <a:ext uri="{FF2B5EF4-FFF2-40B4-BE49-F238E27FC236}">
                <a16:creationId xmlns:a16="http://schemas.microsoft.com/office/drawing/2014/main" id="{56A5E23F-7B5F-7642-A61B-8F96EF1B5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0" y="901700"/>
            <a:ext cx="3962400" cy="883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59" name="Oval 3">
            <a:extLst>
              <a:ext uri="{FF2B5EF4-FFF2-40B4-BE49-F238E27FC236}">
                <a16:creationId xmlns:a16="http://schemas.microsoft.com/office/drawing/2014/main" id="{BD4A0C5C-2BA7-864E-AE31-153B150BEF16}"/>
              </a:ext>
            </a:extLst>
          </p:cNvPr>
          <p:cNvSpPr>
            <a:spLocks/>
          </p:cNvSpPr>
          <p:nvPr/>
        </p:nvSpPr>
        <p:spPr bwMode="auto">
          <a:xfrm>
            <a:off x="1231900" y="7823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45060" name="Picture 4">
            <a:extLst>
              <a:ext uri="{FF2B5EF4-FFF2-40B4-BE49-F238E27FC236}">
                <a16:creationId xmlns:a16="http://schemas.microsoft.com/office/drawing/2014/main" id="{DF32021B-6DB7-0F40-BCE6-199F3338DE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1500" y="824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Oval 5">
            <a:extLst>
              <a:ext uri="{FF2B5EF4-FFF2-40B4-BE49-F238E27FC236}">
                <a16:creationId xmlns:a16="http://schemas.microsoft.com/office/drawing/2014/main" id="{C06E1A71-2EB4-8B49-AF9D-F39ABADCC9C8}"/>
              </a:ext>
            </a:extLst>
          </p:cNvPr>
          <p:cNvSpPr>
            <a:spLocks/>
          </p:cNvSpPr>
          <p:nvPr/>
        </p:nvSpPr>
        <p:spPr bwMode="auto">
          <a:xfrm>
            <a:off x="6807200" y="41783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45062" name="Picture 6">
            <a:extLst>
              <a:ext uri="{FF2B5EF4-FFF2-40B4-BE49-F238E27FC236}">
                <a16:creationId xmlns:a16="http://schemas.microsoft.com/office/drawing/2014/main" id="{47386008-FAD5-034C-B1EB-D8089166F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7500" y="4432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4887AAD9-031A-E84C-99D5-4CC348536E0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1" name="Picture 1">
            <a:extLst>
              <a:ext uri="{FF2B5EF4-FFF2-40B4-BE49-F238E27FC236}">
                <a16:creationId xmlns:a16="http://schemas.microsoft.com/office/drawing/2014/main" id="{AEB0951B-5B02-3E41-AE26-A10EB4689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59224D51-D98D-1146-B67C-0106BBE6CD82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1">
            <a:extLst>
              <a:ext uri="{FF2B5EF4-FFF2-40B4-BE49-F238E27FC236}">
                <a16:creationId xmlns:a16="http://schemas.microsoft.com/office/drawing/2014/main" id="{F5EDD04A-176F-0645-A1F2-C2942A1D94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The filtered process map shows the process flow for the 92 (15%) ‘slow’ cases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On average 3 amendments per case!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92 cases, 302 amendments…</a:t>
            </a:r>
          </a:p>
        </p:txBody>
      </p:sp>
      <p:sp>
        <p:nvSpPr>
          <p:cNvPr id="47106" name="Rectangle 2">
            <a:extLst>
              <a:ext uri="{FF2B5EF4-FFF2-40B4-BE49-F238E27FC236}">
                <a16:creationId xmlns:a16="http://schemas.microsoft.com/office/drawing/2014/main" id="{31BDB2D9-575A-1546-895D-5F8877E8DE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C5AC13C-DCEC-E844-89DC-65C88D42BC49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29" name="Picture 1">
            <a:extLst>
              <a:ext uri="{FF2B5EF4-FFF2-40B4-BE49-F238E27FC236}">
                <a16:creationId xmlns:a16="http://schemas.microsoft.com/office/drawing/2014/main" id="{0605F5F3-C6CA-7148-A040-4E8105A95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6DA046A3-AE64-2B4B-8C35-1352FF7C12F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1">
            <a:extLst>
              <a:ext uri="{FF2B5EF4-FFF2-40B4-BE49-F238E27FC236}">
                <a16:creationId xmlns:a16="http://schemas.microsoft.com/office/drawing/2014/main" id="{0550BA0E-65AD-644D-9F5C-FC44AFA99C2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95400" y="2716213"/>
            <a:ext cx="10782300" cy="5994400"/>
          </a:xfrm>
        </p:spPr>
        <p:txBody>
          <a:bodyPr/>
          <a:lstStyle/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‘Performance’ view   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‘Total duration’ shows the high-impact areas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Switch to ‘Mean duration’: </a:t>
            </a:r>
          </a:p>
          <a:p>
            <a:pPr marL="1765300" lvl="3" eaLnBrk="1" hangingPunct="1">
              <a:spcBef>
                <a:spcPct val="0"/>
              </a:spcBef>
              <a:buFontTx/>
              <a:buChar char="-"/>
            </a:pPr>
            <a:r>
              <a:rPr lang="en-US" altLang="en-IT" sz="3000"/>
              <a:t>On average it takes </a:t>
            </a:r>
            <a:r>
              <a:rPr lang="en-US" altLang="en-IT" sz="3000" b="1"/>
              <a:t>more than 14 days</a:t>
            </a:r>
            <a:r>
              <a:rPr lang="en-US" altLang="en-IT" sz="3000"/>
              <a:t> to return from the rework loop to the normal process</a:t>
            </a:r>
          </a:p>
          <a:p>
            <a:pPr marL="1765300" lvl="3" eaLnBrk="1" hangingPunct="1">
              <a:spcBef>
                <a:spcPts val="500"/>
              </a:spcBef>
              <a:buFontTx/>
              <a:buChar char="-"/>
            </a:pPr>
            <a:r>
              <a:rPr lang="en-US" altLang="en-IT" sz="3000"/>
              <a:t>What about min and max duration?</a:t>
            </a:r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59F57641-36BF-6E4C-8ECA-C27BA688BA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1199813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7b - Spot Bottlenecks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6CB33BC-2B91-B94B-A84E-49495226D46E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7" name="Picture 1">
            <a:extLst>
              <a:ext uri="{FF2B5EF4-FFF2-40B4-BE49-F238E27FC236}">
                <a16:creationId xmlns:a16="http://schemas.microsoft.com/office/drawing/2014/main" id="{7DFA88A8-A008-C842-9052-AFA400004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82" name="AutoShape 2">
            <a:extLst>
              <a:ext uri="{FF2B5EF4-FFF2-40B4-BE49-F238E27FC236}">
                <a16:creationId xmlns:a16="http://schemas.microsoft.com/office/drawing/2014/main" id="{0942687A-2381-EF4F-A06D-37388B8B5A19}"/>
              </a:ext>
            </a:extLst>
          </p:cNvPr>
          <p:cNvSpPr>
            <a:spLocks/>
          </p:cNvSpPr>
          <p:nvPr/>
        </p:nvSpPr>
        <p:spPr bwMode="auto">
          <a:xfrm>
            <a:off x="7886700" y="4025900"/>
            <a:ext cx="3187700" cy="1181100"/>
          </a:xfrm>
          <a:custGeom>
            <a:avLst/>
            <a:gdLst>
              <a:gd name="T0" fmla="*/ 10800 w 18880"/>
              <a:gd name="T1" fmla="*/ 10800 h 12352"/>
            </a:gdLst>
            <a:ahLst/>
            <a:cxnLst>
              <a:cxn ang="0">
                <a:pos x="T0" y="T1"/>
              </a:cxn>
            </a:cxnLst>
            <a:rect l="0" t="0" r="r" b="b"/>
            <a:pathLst>
              <a:path w="18880" h="12352">
                <a:moveTo>
                  <a:pt x="1504" y="0"/>
                </a:moveTo>
                <a:cubicBezTo>
                  <a:pt x="674" y="0"/>
                  <a:pt x="0" y="1189"/>
                  <a:pt x="0" y="2656"/>
                </a:cubicBezTo>
                <a:lnTo>
                  <a:pt x="0" y="9696"/>
                </a:lnTo>
                <a:cubicBezTo>
                  <a:pt x="0" y="11163"/>
                  <a:pt x="674" y="12352"/>
                  <a:pt x="1504" y="12352"/>
                </a:cubicBezTo>
                <a:lnTo>
                  <a:pt x="17376" y="12352"/>
                </a:lnTo>
                <a:cubicBezTo>
                  <a:pt x="17384" y="12352"/>
                  <a:pt x="17391" y="12348"/>
                  <a:pt x="17399" y="12348"/>
                </a:cubicBezTo>
                <a:lnTo>
                  <a:pt x="21600" y="21600"/>
                </a:lnTo>
                <a:lnTo>
                  <a:pt x="18716" y="10883"/>
                </a:lnTo>
                <a:cubicBezTo>
                  <a:pt x="18818" y="10524"/>
                  <a:pt x="18880" y="10125"/>
                  <a:pt x="18880" y="9696"/>
                </a:cubicBezTo>
                <a:lnTo>
                  <a:pt x="18880" y="2656"/>
                </a:lnTo>
                <a:cubicBezTo>
                  <a:pt x="18880" y="1189"/>
                  <a:pt x="18207" y="0"/>
                  <a:pt x="17376" y="0"/>
                </a:cubicBezTo>
                <a:lnTo>
                  <a:pt x="1504" y="0"/>
                </a:lnTo>
                <a:close/>
                <a:moveTo>
                  <a:pt x="1504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Switch to ‘Mean duration’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DF3F5B34-95A4-F048-AA3B-AA0AE1BF2A5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1">
            <a:extLst>
              <a:ext uri="{FF2B5EF4-FFF2-40B4-BE49-F238E27FC236}">
                <a16:creationId xmlns:a16="http://schemas.microsoft.com/office/drawing/2014/main" id="{484352E7-99E1-F041-8218-E63C9E7D74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57300" y="2933700"/>
            <a:ext cx="10629900" cy="62992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dirty="0"/>
              <a:t>Visualize bottleneck: </a:t>
            </a:r>
            <a:br>
              <a:rPr lang="en-US" altLang="en-IT" dirty="0"/>
            </a:br>
            <a:r>
              <a:rPr lang="en-US" altLang="en-IT" dirty="0"/>
              <a:t>Press </a:t>
            </a:r>
            <a:r>
              <a:rPr lang="en-US" altLang="en-IT" b="1" dirty="0">
                <a:ea typeface="ヒラギノ角ゴ ProN W6" panose="020B0300000000000000" pitchFamily="34" charset="-128"/>
              </a:rPr>
              <a:t>▷</a:t>
            </a:r>
            <a:r>
              <a:rPr lang="en-US" altLang="en-IT" dirty="0"/>
              <a:t> button to start animation</a:t>
            </a:r>
          </a:p>
          <a:p>
            <a:pPr marL="0" indent="0" eaLnBrk="1" hangingPunct="1">
              <a:defRPr/>
            </a:pPr>
            <a:r>
              <a:rPr lang="en-US" altLang="en-IT" dirty="0"/>
              <a:t>Observe how purchase orders move through the process</a:t>
            </a:r>
          </a:p>
          <a:p>
            <a:pPr marL="0" indent="0" eaLnBrk="1" hangingPunct="1">
              <a:defRPr/>
            </a:pPr>
            <a:r>
              <a:rPr lang="en-US" altLang="en-IT" dirty="0"/>
              <a:t>Drag needle to the end of the timeline</a:t>
            </a:r>
          </a:p>
          <a:p>
            <a:pPr marL="571500" indent="-571500" eaLnBrk="1" hangingPunct="1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dirty="0"/>
              <a:t>observe how the most used paths get thicker and thicker</a:t>
            </a:r>
          </a:p>
        </p:txBody>
      </p:sp>
      <p:sp>
        <p:nvSpPr>
          <p:cNvPr id="51202" name="Rectangle 2">
            <a:extLst>
              <a:ext uri="{FF2B5EF4-FFF2-40B4-BE49-F238E27FC236}">
                <a16:creationId xmlns:a16="http://schemas.microsoft.com/office/drawing/2014/main" id="{073456B9-BE9B-BA40-A2A6-8354273D25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8 - Animate Process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11F1D45D-F48C-9F47-B10E-7431B8277AF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5" name="Picture 1">
            <a:extLst>
              <a:ext uri="{FF2B5EF4-FFF2-40B4-BE49-F238E27FC236}">
                <a16:creationId xmlns:a16="http://schemas.microsoft.com/office/drawing/2014/main" id="{62C07A0A-C8DB-CD4E-9CDD-062D44795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CBB7EB1D-BE14-A444-923E-5DFA80AAB21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1">
            <a:extLst>
              <a:ext uri="{FF2B5EF4-FFF2-40B4-BE49-F238E27FC236}">
                <a16:creationId xmlns:a16="http://schemas.microsoft.com/office/drawing/2014/main" id="{1B2FC53B-8A89-CA4A-A942-F54B7DDD6BC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</a:t>
            </a:r>
            <a:r>
              <a:rPr lang="en-US" altLang="en-IT" sz="3000" b="1">
                <a:solidFill>
                  <a:srgbClr val="8F3E05"/>
                </a:solidFill>
              </a:rPr>
              <a:t>Next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3250" name="Rectangle 2">
            <a:extLst>
              <a:ext uri="{FF2B5EF4-FFF2-40B4-BE49-F238E27FC236}">
                <a16:creationId xmlns:a16="http://schemas.microsoft.com/office/drawing/2014/main" id="{97BA1952-38A6-3149-8382-ACF15D17C6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3251" name="Picture 3">
            <a:extLst>
              <a:ext uri="{FF2B5EF4-FFF2-40B4-BE49-F238E27FC236}">
                <a16:creationId xmlns:a16="http://schemas.microsoft.com/office/drawing/2014/main" id="{B8EAEDD2-8E3B-354E-9A11-580F68D26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>
            <a:extLst>
              <a:ext uri="{FF2B5EF4-FFF2-40B4-BE49-F238E27FC236}">
                <a16:creationId xmlns:a16="http://schemas.microsoft.com/office/drawing/2014/main" id="{14A4CA88-84EA-3C47-BEF1-F5566B580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E310D69D-9ADA-0B46-89CE-7A5450C06E5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1">
            <a:extLst>
              <a:ext uri="{FF2B5EF4-FFF2-40B4-BE49-F238E27FC236}">
                <a16:creationId xmlns:a16="http://schemas.microsoft.com/office/drawing/2014/main" id="{07C61DB0-0470-5744-9F40-C3527B7EF30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Exit the animation, return to Filter settings, and remove performance filter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1295400" lvl="2" eaLnBrk="1" hangingPunct="1">
              <a:lnSpc>
                <a:spcPct val="80000"/>
              </a:lnSpc>
              <a:spcBef>
                <a:spcPts val="16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back to Frequency Map view and scroll to end of the process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10 cases skip the mandatory ‘Release Supplier’s Invoice’ activity!</a:t>
            </a: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CFEFA66A-A983-4847-A288-80B8A711B3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pic>
        <p:nvPicPr>
          <p:cNvPr id="54275" name="Picture 3">
            <a:extLst>
              <a:ext uri="{FF2B5EF4-FFF2-40B4-BE49-F238E27FC236}">
                <a16:creationId xmlns:a16="http://schemas.microsoft.com/office/drawing/2014/main" id="{000CAFCA-2696-E645-BF03-636654369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8900" y="4432300"/>
            <a:ext cx="3124200" cy="1181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6" name="Picture 4">
            <a:extLst>
              <a:ext uri="{FF2B5EF4-FFF2-40B4-BE49-F238E27FC236}">
                <a16:creationId xmlns:a16="http://schemas.microsoft.com/office/drawing/2014/main" id="{CEBCD300-5331-9046-918D-1197F909A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1600" y="4572000"/>
            <a:ext cx="2946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277" name="Oval 5">
            <a:extLst>
              <a:ext uri="{FF2B5EF4-FFF2-40B4-BE49-F238E27FC236}">
                <a16:creationId xmlns:a16="http://schemas.microsoft.com/office/drawing/2014/main" id="{9EDF5F5B-AB12-FA4D-AD5F-137557DEA624}"/>
              </a:ext>
            </a:extLst>
          </p:cNvPr>
          <p:cNvSpPr>
            <a:spLocks/>
          </p:cNvSpPr>
          <p:nvPr/>
        </p:nvSpPr>
        <p:spPr bwMode="auto">
          <a:xfrm>
            <a:off x="2705100" y="53975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4278" name="Oval 6">
            <a:extLst>
              <a:ext uri="{FF2B5EF4-FFF2-40B4-BE49-F238E27FC236}">
                <a16:creationId xmlns:a16="http://schemas.microsoft.com/office/drawing/2014/main" id="{A2E16A06-5E05-1D4C-976D-08E37BE77A1D}"/>
              </a:ext>
            </a:extLst>
          </p:cNvPr>
          <p:cNvSpPr>
            <a:spLocks/>
          </p:cNvSpPr>
          <p:nvPr/>
        </p:nvSpPr>
        <p:spPr bwMode="auto">
          <a:xfrm>
            <a:off x="10299700" y="51562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4279" name="AutoShape 2">
            <a:extLst>
              <a:ext uri="{FF2B5EF4-FFF2-40B4-BE49-F238E27FC236}">
                <a16:creationId xmlns:a16="http://schemas.microsoft.com/office/drawing/2014/main" id="{7E8F9C67-66C2-9147-B335-78BE55DBA6CB}"/>
              </a:ext>
            </a:extLst>
          </p:cNvPr>
          <p:cNvSpPr>
            <a:spLocks/>
          </p:cNvSpPr>
          <p:nvPr/>
        </p:nvSpPr>
        <p:spPr bwMode="auto">
          <a:xfrm>
            <a:off x="2317750" y="52578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BF4350DD-0694-F448-88DA-C2F4D2186795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59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97" name="Picture 1">
            <a:extLst>
              <a:ext uri="{FF2B5EF4-FFF2-40B4-BE49-F238E27FC236}">
                <a16:creationId xmlns:a16="http://schemas.microsoft.com/office/drawing/2014/main" id="{2A66F87B-7760-1E47-A5E5-3B9931C6F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298" name="AutoShape 2">
            <a:extLst>
              <a:ext uri="{FF2B5EF4-FFF2-40B4-BE49-F238E27FC236}">
                <a16:creationId xmlns:a16="http://schemas.microsoft.com/office/drawing/2014/main" id="{615DDEAB-06FE-FC4E-A589-0B580D15A82F}"/>
              </a:ext>
            </a:extLst>
          </p:cNvPr>
          <p:cNvSpPr>
            <a:spLocks/>
          </p:cNvSpPr>
          <p:nvPr/>
        </p:nvSpPr>
        <p:spPr bwMode="auto">
          <a:xfrm>
            <a:off x="3683000" y="4279900"/>
            <a:ext cx="685800" cy="431800"/>
          </a:xfrm>
          <a:prstGeom prst="roundRect">
            <a:avLst>
              <a:gd name="adj" fmla="val 44116"/>
            </a:avLst>
          </a:prstGeom>
          <a:noFill/>
          <a:ln w="635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382A05B-9281-5941-B3FA-6688BE1A4AB1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1">
            <a:extLst>
              <a:ext uri="{FF2B5EF4-FFF2-40B4-BE49-F238E27FC236}">
                <a16:creationId xmlns:a16="http://schemas.microsoft.com/office/drawing/2014/main" id="{E0131A69-A834-BC49-813B-42AB4B00BF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70000" y="2933700"/>
            <a:ext cx="10617200" cy="59944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Drill down: Click on the path from ‘Send invoice’ to ‘Authorize Supplier’s Invoice payment’ and press ‘Filter this path...’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endParaRPr lang="en-US" altLang="en-IT"/>
          </a:p>
          <a:p>
            <a:pPr marL="0" indent="0" eaLnBrk="1" hangingPunct="1">
              <a:lnSpc>
                <a:spcPct val="80000"/>
              </a:lnSpc>
              <a:spcBef>
                <a:spcPts val="3500"/>
              </a:spcBef>
            </a:pPr>
            <a:r>
              <a:rPr lang="en-US" altLang="en-IT"/>
              <a:t>Switch to Cases view to see the 10 cases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Actionable result: We can either change the operational system to prevent the violation or provide targeted training </a:t>
            </a:r>
          </a:p>
        </p:txBody>
      </p:sp>
      <p:sp>
        <p:nvSpPr>
          <p:cNvPr id="56322" name="Rectangle 2">
            <a:extLst>
              <a:ext uri="{FF2B5EF4-FFF2-40B4-BE49-F238E27FC236}">
                <a16:creationId xmlns:a16="http://schemas.microsoft.com/office/drawing/2014/main" id="{6E2F2D6D-A860-DA49-A93A-1643A61D97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9347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9 - Compliance Check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9D11C023-F936-2E4E-A2A6-B9D0E0549ECB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61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5" name="Picture 1">
            <a:extLst>
              <a:ext uri="{FF2B5EF4-FFF2-40B4-BE49-F238E27FC236}">
                <a16:creationId xmlns:a16="http://schemas.microsoft.com/office/drawing/2014/main" id="{5AB15DD3-4E7E-B240-9C1E-DA0513F3B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250" name="AutoShape 2">
            <a:extLst>
              <a:ext uri="{FF2B5EF4-FFF2-40B4-BE49-F238E27FC236}">
                <a16:creationId xmlns:a16="http://schemas.microsoft.com/office/drawing/2014/main" id="{F0F9715A-B6F4-E94E-80D4-2A49C436DACC}"/>
              </a:ext>
            </a:extLst>
          </p:cNvPr>
          <p:cNvSpPr>
            <a:spLocks/>
          </p:cNvSpPr>
          <p:nvPr/>
        </p:nvSpPr>
        <p:spPr bwMode="auto">
          <a:xfrm>
            <a:off x="7200900" y="5270500"/>
            <a:ext cx="2895600" cy="1181100"/>
          </a:xfrm>
          <a:custGeom>
            <a:avLst/>
            <a:gdLst>
              <a:gd name="T0" fmla="+- 0 10800 5473"/>
              <a:gd name="T1" fmla="*/ T0 w 16127"/>
              <a:gd name="T2" fmla="*/ 10800 h 16311"/>
            </a:gdLst>
            <a:ahLst/>
            <a:cxnLst>
              <a:cxn ang="0">
                <a:pos x="T1" y="T2"/>
              </a:cxn>
            </a:cxnLst>
            <a:rect l="0" t="0" r="r" b="b"/>
            <a:pathLst>
              <a:path w="16127" h="16311">
                <a:moveTo>
                  <a:pt x="1415" y="0"/>
                </a:moveTo>
                <a:cubicBezTo>
                  <a:pt x="633" y="0"/>
                  <a:pt x="0" y="1570"/>
                  <a:pt x="0" y="3508"/>
                </a:cubicBezTo>
                <a:lnTo>
                  <a:pt x="0" y="12579"/>
                </a:lnTo>
                <a:lnTo>
                  <a:pt x="-5473" y="21600"/>
                </a:lnTo>
                <a:lnTo>
                  <a:pt x="676" y="15785"/>
                </a:lnTo>
                <a:cubicBezTo>
                  <a:pt x="892" y="16114"/>
                  <a:pt x="1143" y="16311"/>
                  <a:pt x="1415" y="16311"/>
                </a:cubicBezTo>
                <a:lnTo>
                  <a:pt x="14712" y="16311"/>
                </a:lnTo>
                <a:cubicBezTo>
                  <a:pt x="15494" y="16311"/>
                  <a:pt x="16127" y="14741"/>
                  <a:pt x="16127" y="12803"/>
                </a:cubicBezTo>
                <a:lnTo>
                  <a:pt x="16127" y="3508"/>
                </a:lnTo>
                <a:cubicBezTo>
                  <a:pt x="16127" y="1570"/>
                  <a:pt x="15494" y="0"/>
                  <a:pt x="14712" y="0"/>
                </a:cubicBezTo>
                <a:lnTo>
                  <a:pt x="1415" y="0"/>
                </a:lnTo>
                <a:close/>
                <a:moveTo>
                  <a:pt x="1415" y="0"/>
                </a:moveTo>
              </a:path>
            </a:pathLst>
          </a:custGeom>
          <a:solidFill>
            <a:schemeClr val="accent1"/>
          </a:solidFill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 anchor="ctr"/>
          <a:lstStyle>
            <a:lvl1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37931725" indent="-37474525"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eaLnBrk="0" hangingPunct="0"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ctr" eaLnBrk="1" hangingPunct="1">
              <a:defRPr/>
            </a:pP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Shortcut to </a:t>
            </a:r>
            <a:b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</a:br>
            <a:r>
              <a:rPr lang="en-US" altLang="en-IT" sz="3000">
                <a:solidFill>
                  <a:srgbClr val="FFFFF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Helvetica Neue" panose="02000503000000020004" pitchFamily="2" charset="0"/>
                <a:sym typeface="Helvetica Neue" panose="02000503000000020004" pitchFamily="2" charset="0"/>
              </a:rPr>
              <a:t>filter this path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B8A5BA86-912F-D540-92E4-75338042AA9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69" name="Picture 1">
            <a:extLst>
              <a:ext uri="{FF2B5EF4-FFF2-40B4-BE49-F238E27FC236}">
                <a16:creationId xmlns:a16="http://schemas.microsoft.com/office/drawing/2014/main" id="{2BFB0F81-2C84-1D47-A010-689DFD660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370" name="AutoShape 2">
            <a:extLst>
              <a:ext uri="{FF2B5EF4-FFF2-40B4-BE49-F238E27FC236}">
                <a16:creationId xmlns:a16="http://schemas.microsoft.com/office/drawing/2014/main" id="{2C756585-0E9B-5845-8A2F-FBEA3BCEB871}"/>
              </a:ext>
            </a:extLst>
          </p:cNvPr>
          <p:cNvSpPr>
            <a:spLocks/>
          </p:cNvSpPr>
          <p:nvPr/>
        </p:nvSpPr>
        <p:spPr bwMode="auto">
          <a:xfrm>
            <a:off x="2997200" y="2349500"/>
            <a:ext cx="1968500" cy="4711700"/>
          </a:xfrm>
          <a:prstGeom prst="roundRect">
            <a:avLst>
              <a:gd name="adj" fmla="val 9676"/>
            </a:avLst>
          </a:prstGeom>
          <a:noFill/>
          <a:ln w="63500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endParaRPr lang="en-IT" altLang="en-IT" sz="4000">
              <a:solidFill>
                <a:srgbClr val="000000"/>
              </a:solidFill>
              <a:latin typeface="Gill Sans" panose="020B0502020104020203" pitchFamily="34" charset="-79"/>
              <a:sym typeface="Gill Sans" panose="020B0502020104020203" pitchFamily="34" charset="-79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EA8AA3-5386-6A44-B0DF-2C5CD72458C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63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1">
            <a:extLst>
              <a:ext uri="{FF2B5EF4-FFF2-40B4-BE49-F238E27FC236}">
                <a16:creationId xmlns:a16="http://schemas.microsoft.com/office/drawing/2014/main" id="{8CEADF14-B52D-B848-9684-8977C8DF91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933700"/>
            <a:ext cx="11036300" cy="6604000"/>
          </a:xfrm>
        </p:spPr>
        <p:txBody>
          <a:bodyPr/>
          <a:lstStyle/>
          <a:p>
            <a:pPr marL="1206500" lvl="2" indent="-546100" eaLnBrk="1" hangingPunct="1">
              <a:buSzPct val="99000"/>
              <a:buFontTx/>
              <a:buAutoNum type="arabicPeriod"/>
            </a:pPr>
            <a:r>
              <a:rPr lang="en-US" altLang="en-IT" sz="3500"/>
              <a:t>How does the process actually look like?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Objective process map discovered</a:t>
            </a:r>
          </a:p>
          <a:p>
            <a:pPr marL="2184400" lvl="4" indent="-546100" eaLnBrk="1" hangingPunct="1">
              <a:lnSpc>
                <a:spcPct val="80000"/>
              </a:lnSpc>
            </a:pPr>
            <a:r>
              <a:rPr lang="en-US" altLang="en-IT" sz="3000"/>
              <a:t>Lots of amendments and stopped requests: </a:t>
            </a:r>
            <a:r>
              <a:rPr lang="en-US" altLang="en-IT" sz="3000">
                <a:solidFill>
                  <a:srgbClr val="8F3E05"/>
                </a:solidFill>
              </a:rPr>
              <a:t>Update of purchasing guidelines needed</a:t>
            </a:r>
            <a:r>
              <a:rPr lang="en-US" altLang="en-IT" sz="3000"/>
              <a:t> </a:t>
            </a:r>
          </a:p>
          <a:p>
            <a:pPr marL="1206500" lvl="2" indent="-546100" eaLnBrk="1" hangingPunct="1">
              <a:lnSpc>
                <a:spcPct val="90000"/>
              </a:lnSpc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Are there deviations from the prescribed process? </a:t>
            </a:r>
            <a:r>
              <a:rPr lang="en-US" altLang="en-IT" sz="3000">
                <a:solidFill>
                  <a:srgbClr val="8F3E05"/>
                </a:solidFill>
              </a:rPr>
              <a:t>-&gt; Yes, training or system change needed</a:t>
            </a:r>
            <a:endParaRPr lang="en-US" altLang="en-IT" sz="3500"/>
          </a:p>
          <a:p>
            <a:pPr marL="1206500" lvl="2" indent="-546100" eaLnBrk="1" hangingPunct="1">
              <a:spcBef>
                <a:spcPts val="2800"/>
              </a:spcBef>
              <a:buSzPct val="99000"/>
              <a:buFontTx/>
              <a:buAutoNum type="arabicPeriod"/>
            </a:pPr>
            <a:r>
              <a:rPr lang="en-US" altLang="en-IT" sz="3500"/>
              <a:t>Do we meet the performance targets? </a:t>
            </a:r>
          </a:p>
          <a:p>
            <a:pPr marL="2184400" lvl="4" indent="-546100" eaLnBrk="1" hangingPunct="1">
              <a:spcBef>
                <a:spcPts val="1500"/>
              </a:spcBef>
            </a:pPr>
            <a:r>
              <a:rPr lang="en-US" altLang="en-IT" sz="3000"/>
              <a:t>Not by all (some take longer than 21 days)</a:t>
            </a:r>
          </a:p>
          <a:p>
            <a:pPr marL="2184400" lvl="4" indent="-546100" eaLnBrk="1" hangingPunct="1"/>
            <a:r>
              <a:rPr lang="en-US" altLang="en-IT" sz="3000"/>
              <a:t>The ‘Analyze Request for Quotation’ activity is a huge bottleneck: </a:t>
            </a:r>
            <a:r>
              <a:rPr lang="en-US" altLang="en-IT" sz="3000">
                <a:solidFill>
                  <a:srgbClr val="8F3E05"/>
                </a:solidFill>
              </a:rPr>
              <a:t>Process change is needed</a:t>
            </a:r>
          </a:p>
        </p:txBody>
      </p:sp>
      <p:sp>
        <p:nvSpPr>
          <p:cNvPr id="59394" name="Rectangle 2">
            <a:extLst>
              <a:ext uri="{FF2B5EF4-FFF2-40B4-BE49-F238E27FC236}">
                <a16:creationId xmlns:a16="http://schemas.microsoft.com/office/drawing/2014/main" id="{567CF6CF-780B-1542-86A3-8D58BF4904E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20400" cy="1270000"/>
          </a:xfrm>
        </p:spPr>
        <p:txBody>
          <a:bodyPr/>
          <a:lstStyle/>
          <a:p>
            <a:pPr eaLnBrk="1" hangingPunct="1"/>
            <a:r>
              <a:rPr lang="en-US" altLang="en-IT"/>
              <a:t>Results so far...</a:t>
            </a:r>
          </a:p>
        </p:txBody>
      </p:sp>
      <p:pic>
        <p:nvPicPr>
          <p:cNvPr id="59395" name="Picture 3">
            <a:extLst>
              <a:ext uri="{FF2B5EF4-FFF2-40B4-BE49-F238E27FC236}">
                <a16:creationId xmlns:a16="http://schemas.microsoft.com/office/drawing/2014/main" id="{40E66F9F-CDDE-414F-826F-D3A47FDEF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29972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6" name="Picture 4">
            <a:extLst>
              <a:ext uri="{FF2B5EF4-FFF2-40B4-BE49-F238E27FC236}">
                <a16:creationId xmlns:a16="http://schemas.microsoft.com/office/drawing/2014/main" id="{A8A97B1D-29EE-3141-B630-F7D04773C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67691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9397" name="Picture 5">
            <a:extLst>
              <a:ext uri="{FF2B5EF4-FFF2-40B4-BE49-F238E27FC236}">
                <a16:creationId xmlns:a16="http://schemas.microsoft.com/office/drawing/2014/main" id="{3EB73CE1-8A41-3C40-9E06-31933B8E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5384800"/>
            <a:ext cx="5969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066D7B0F-6718-8E40-9768-0AAE230DA8D4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64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1">
            <a:extLst>
              <a:ext uri="{FF2B5EF4-FFF2-40B4-BE49-F238E27FC236}">
                <a16:creationId xmlns:a16="http://schemas.microsoft.com/office/drawing/2014/main" id="{A8BC0AE3-7F69-7F4A-A031-959B8FDB0CB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Last Step: We seek an alternative view on the data to visualize the organizational flow</a:t>
            </a:r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Go to ‘Project view’ and press ‘Reload’:</a:t>
            </a:r>
            <a:br>
              <a:rPr lang="en-US" altLang="en-IT"/>
            </a:br>
            <a:br>
              <a:rPr lang="en-US" altLang="en-IT"/>
            </a:br>
            <a:br>
              <a:rPr lang="en-US" altLang="en-IT"/>
            </a:br>
            <a:endParaRPr lang="en-US" altLang="en-IT"/>
          </a:p>
          <a:p>
            <a:pPr marL="0" indent="0" eaLnBrk="1" hangingPunct="1">
              <a:spcBef>
                <a:spcPts val="2600"/>
              </a:spcBef>
            </a:pPr>
            <a:r>
              <a:rPr lang="en-US" altLang="en-IT"/>
              <a:t>Set ‘Activity’ column to ‘Other’ and configure ‘Role’ column as ‘Activity’ </a:t>
            </a:r>
          </a:p>
        </p:txBody>
      </p:sp>
      <p:pic>
        <p:nvPicPr>
          <p:cNvPr id="60418" name="Picture 2">
            <a:extLst>
              <a:ext uri="{FF2B5EF4-FFF2-40B4-BE49-F238E27FC236}">
                <a16:creationId xmlns:a16="http://schemas.microsoft.com/office/drawing/2014/main" id="{5DE86DC4-1C7C-A24E-8C91-670D005F3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1" t="8987" r="51494" b="47940"/>
          <a:stretch>
            <a:fillRect/>
          </a:stretch>
        </p:blipFill>
        <p:spPr bwMode="auto">
          <a:xfrm>
            <a:off x="1752600" y="5588000"/>
            <a:ext cx="3225800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19" name="Oval 3">
            <a:extLst>
              <a:ext uri="{FF2B5EF4-FFF2-40B4-BE49-F238E27FC236}">
                <a16:creationId xmlns:a16="http://schemas.microsoft.com/office/drawing/2014/main" id="{5005AE94-622E-A341-A023-A93C1D6BFF9B}"/>
              </a:ext>
            </a:extLst>
          </p:cNvPr>
          <p:cNvSpPr>
            <a:spLocks/>
          </p:cNvSpPr>
          <p:nvPr/>
        </p:nvSpPr>
        <p:spPr bwMode="auto">
          <a:xfrm>
            <a:off x="2603500" y="56388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60420" name="Picture 4">
            <a:extLst>
              <a:ext uri="{FF2B5EF4-FFF2-40B4-BE49-F238E27FC236}">
                <a16:creationId xmlns:a16="http://schemas.microsoft.com/office/drawing/2014/main" id="{F6504398-973C-054E-90E4-3CDF95145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9600" y="60833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421" name="Picture 5">
            <a:extLst>
              <a:ext uri="{FF2B5EF4-FFF2-40B4-BE49-F238E27FC236}">
                <a16:creationId xmlns:a16="http://schemas.microsoft.com/office/drawing/2014/main" id="{8BAD8540-CEE7-1945-A317-3BBA2268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26" t="43852" r="5562" b="34488"/>
          <a:stretch>
            <a:fillRect/>
          </a:stretch>
        </p:blipFill>
        <p:spPr bwMode="auto">
          <a:xfrm>
            <a:off x="8280400" y="5499100"/>
            <a:ext cx="3225800" cy="165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2" name="Oval 6">
            <a:extLst>
              <a:ext uri="{FF2B5EF4-FFF2-40B4-BE49-F238E27FC236}">
                <a16:creationId xmlns:a16="http://schemas.microsoft.com/office/drawing/2014/main" id="{2FBBE969-6383-3D4A-9174-4802755E5183}"/>
              </a:ext>
            </a:extLst>
          </p:cNvPr>
          <p:cNvSpPr>
            <a:spLocks/>
          </p:cNvSpPr>
          <p:nvPr/>
        </p:nvSpPr>
        <p:spPr bwMode="auto">
          <a:xfrm>
            <a:off x="8267700" y="5943600"/>
            <a:ext cx="635000" cy="6350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>
              <a:spcBef>
                <a:spcPts val="2300"/>
              </a:spcBef>
              <a:defRPr sz="4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1pPr>
            <a:lvl2pPr marL="37931725" indent="-37474525">
              <a:spcBef>
                <a:spcPts val="1800"/>
              </a:spcBef>
              <a:buSzPct val="125000"/>
              <a:buFont typeface="Helvetica Neue" panose="02000503000000020004" pitchFamily="2" charset="0"/>
              <a:buChar char="•"/>
              <a:defRPr sz="40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2pPr>
            <a:lvl3pPr marL="1066800" indent="-444500">
              <a:spcBef>
                <a:spcPts val="15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6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3pPr>
            <a:lvl4pPr marL="1536700" indent="-444500">
              <a:spcBef>
                <a:spcPts val="13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4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4pPr>
            <a:lvl5pPr marL="1968500" indent="-444500">
              <a:spcBef>
                <a:spcPts val="1000"/>
              </a:spcBef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5pPr>
            <a:lvl6pPr marL="24257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6pPr>
            <a:lvl7pPr marL="28829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7pPr>
            <a:lvl8pPr marL="33401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8pPr>
            <a:lvl9pPr marL="3797300" indent="-444500" eaLnBrk="0" fontAlgn="base" hangingPunct="0">
              <a:spcBef>
                <a:spcPts val="1000"/>
              </a:spcBef>
              <a:spcAft>
                <a:spcPct val="0"/>
              </a:spcAft>
              <a:buClr>
                <a:srgbClr val="343434"/>
              </a:buClr>
              <a:buSzPct val="125000"/>
              <a:buFont typeface="Helvetica Neue" panose="02000503000000020004" pitchFamily="2" charset="0"/>
              <a:buChar char="•"/>
              <a:defRPr sz="3200">
                <a:solidFill>
                  <a:srgbClr val="343434"/>
                </a:solidFill>
                <a:latin typeface="Helvetica Neue" panose="02000503000000020004" pitchFamily="2" charset="0"/>
                <a:ea typeface="ヒラギノ角ゴ ProN W3" panose="020B0300000000000000" pitchFamily="34" charset="-128"/>
                <a:sym typeface="Helvetica Neue" panose="02000503000000020004" pitchFamily="2" charset="0"/>
              </a:defRPr>
            </a:lvl9pPr>
          </a:lstStyle>
          <a:p>
            <a:pPr algn="ctr" eaLnBrk="1" hangingPunct="1">
              <a:spcBef>
                <a:spcPct val="0"/>
              </a:spcBef>
            </a:pPr>
            <a:r>
              <a:rPr lang="en-US" altLang="en-IT" sz="3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60423" name="Picture 7">
            <a:extLst>
              <a:ext uri="{FF2B5EF4-FFF2-40B4-BE49-F238E27FC236}">
                <a16:creationId xmlns:a16="http://schemas.microsoft.com/office/drawing/2014/main" id="{54166021-A3CC-7D47-83D7-CDB7C7DEB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800" y="6477000"/>
            <a:ext cx="393700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424" name="Line 8">
            <a:extLst>
              <a:ext uri="{FF2B5EF4-FFF2-40B4-BE49-F238E27FC236}">
                <a16:creationId xmlns:a16="http://schemas.microsoft.com/office/drawing/2014/main" id="{1C0A0843-AD9F-EB42-82E2-0448A0EED81E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3421063" y="5245100"/>
            <a:ext cx="1023937" cy="639763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5" name="Line 9">
            <a:extLst>
              <a:ext uri="{FF2B5EF4-FFF2-40B4-BE49-F238E27FC236}">
                <a16:creationId xmlns:a16="http://schemas.microsoft.com/office/drawing/2014/main" id="{16910EFB-02B1-6547-9F69-CA3714F45590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9194800" y="5245100"/>
            <a:ext cx="565150" cy="1054100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60426" name="Rectangle 10">
            <a:extLst>
              <a:ext uri="{FF2B5EF4-FFF2-40B4-BE49-F238E27FC236}">
                <a16:creationId xmlns:a16="http://schemas.microsoft.com/office/drawing/2014/main" id="{36D74818-D660-CD43-8CC3-DCABEC4A15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12" name="Slide Number Placeholder 1">
            <a:extLst>
              <a:ext uri="{FF2B5EF4-FFF2-40B4-BE49-F238E27FC236}">
                <a16:creationId xmlns:a16="http://schemas.microsoft.com/office/drawing/2014/main" id="{2A4D84C0-DB3B-AB4A-857A-F4FE4016812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65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41" name="Picture 1">
            <a:extLst>
              <a:ext uri="{FF2B5EF4-FFF2-40B4-BE49-F238E27FC236}">
                <a16:creationId xmlns:a16="http://schemas.microsoft.com/office/drawing/2014/main" id="{D084F43A-91B6-694A-835D-4CA671994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9D7F51BC-DCDC-DB49-A163-549F0398797D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66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1">
            <a:extLst>
              <a:ext uri="{FF2B5EF4-FFF2-40B4-BE49-F238E27FC236}">
                <a16:creationId xmlns:a16="http://schemas.microsoft.com/office/drawing/2014/main" id="{4E2599E3-D5D7-6C4B-B38D-A5ABC33AE9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0" indent="0" eaLnBrk="1" hangingPunct="1"/>
            <a:r>
              <a:rPr lang="en-US" altLang="en-IT"/>
              <a:t>Instead of the activity flow, we are now looking at how the process moves through different </a:t>
            </a:r>
            <a:r>
              <a:rPr lang="en-US" altLang="en-IT" i="1"/>
              <a:t>roles</a:t>
            </a:r>
            <a:r>
              <a:rPr lang="en-US" altLang="en-IT"/>
              <a:t> in the organization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/>
              <a:t>Inefficiencies can often be found at the borders of organizational units</a:t>
            </a:r>
          </a:p>
          <a:p>
            <a:pPr marL="1295400" lvl="2" eaLnBrk="1" hangingPunct="1">
              <a:spcBef>
                <a:spcPts val="1600"/>
              </a:spcBef>
              <a:buFontTx/>
              <a:buChar char="-"/>
            </a:pPr>
            <a:r>
              <a:rPr lang="en-US" altLang="en-IT"/>
              <a:t>Clearly, the Purchasing agents are causing the biggest delays in the process!</a:t>
            </a:r>
            <a:endParaRPr lang="en-US" altLang="en-IT" sz="4200"/>
          </a:p>
          <a:p>
            <a:pPr marL="0" indent="0" eaLnBrk="1" hangingPunct="1">
              <a:spcBef>
                <a:spcPts val="2600"/>
              </a:spcBef>
            </a:pPr>
            <a:endParaRPr lang="en-US" altLang="en-IT"/>
          </a:p>
        </p:txBody>
      </p:sp>
      <p:sp>
        <p:nvSpPr>
          <p:cNvPr id="62466" name="Rectangle 2">
            <a:extLst>
              <a:ext uri="{FF2B5EF4-FFF2-40B4-BE49-F238E27FC236}">
                <a16:creationId xmlns:a16="http://schemas.microsoft.com/office/drawing/2014/main" id="{B82F8996-D21C-A14D-8780-E0D2EA88EA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Step 10 - Organizational View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507586F-4C7F-B944-9B63-EBFC231D1626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67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89" name="Picture 1">
            <a:extLst>
              <a:ext uri="{FF2B5EF4-FFF2-40B4-BE49-F238E27FC236}">
                <a16:creationId xmlns:a16="http://schemas.microsoft.com/office/drawing/2014/main" id="{3A1AACF1-FFC8-1F42-B7AB-36ED9CE22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00" y="1028700"/>
            <a:ext cx="12103100" cy="8550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2C9E822-F0E6-144F-A51D-060C531B5EAC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68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1">
            <a:extLst>
              <a:ext uri="{FF2B5EF4-FFF2-40B4-BE49-F238E27FC236}">
                <a16:creationId xmlns:a16="http://schemas.microsoft.com/office/drawing/2014/main" id="{F9B93B39-B097-3745-AD92-BD0D2822B3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06500" y="2500313"/>
            <a:ext cx="10553700" cy="59817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600" dirty="0"/>
              <a:t>We have learned 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How to play with Disco to discover a process model</a:t>
            </a:r>
          </a:p>
          <a:p>
            <a:pPr marL="0" indent="0" eaLnBrk="1" hangingPunct="1">
              <a:defRPr/>
            </a:pPr>
            <a:r>
              <a:rPr lang="en-US" altLang="en-IT" sz="3600" dirty="0"/>
              <a:t>We have found 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opportunities to improve the process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/>
              <a:t>Now: Take action and verify results </a:t>
            </a:r>
          </a:p>
        </p:txBody>
      </p:sp>
      <p:sp>
        <p:nvSpPr>
          <p:cNvPr id="64514" name="Rectangle 3">
            <a:extLst>
              <a:ext uri="{FF2B5EF4-FFF2-40B4-BE49-F238E27FC236}">
                <a16:creationId xmlns:a16="http://schemas.microsoft.com/office/drawing/2014/main" id="{8635948D-C257-304F-858C-350E8739D9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Close the loop</a:t>
            </a:r>
          </a:p>
        </p:txBody>
      </p:sp>
      <p:pic>
        <p:nvPicPr>
          <p:cNvPr id="64515" name="Picture 4" descr="phases-5.pdf">
            <a:extLst>
              <a:ext uri="{FF2B5EF4-FFF2-40B4-BE49-F238E27FC236}">
                <a16:creationId xmlns:a16="http://schemas.microsoft.com/office/drawing/2014/main" id="{F4850184-ECB1-2949-8805-388FB0939A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000" y="7186613"/>
            <a:ext cx="8748713" cy="229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A278A9B5-4724-6E47-BCC1-32A933A7287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69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1">
            <a:extLst>
              <a:ext uri="{FF2B5EF4-FFF2-40B4-BE49-F238E27FC236}">
                <a16:creationId xmlns:a16="http://schemas.microsoft.com/office/drawing/2014/main" id="{236B4C2E-FA91-5441-BE8B-ED3FF752BB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219200" y="3073400"/>
            <a:ext cx="10744200" cy="6324600"/>
          </a:xfrm>
        </p:spPr>
        <p:txBody>
          <a:bodyPr/>
          <a:lstStyle/>
          <a:p>
            <a:pPr marL="635000" indent="-635000" eaLnBrk="1" hangingPunct="1"/>
            <a:r>
              <a:rPr lang="en-US" altLang="en-IT" dirty="0"/>
              <a:t>Import data again and configure both ‘Activity’ and ‘Role’ column as ‘Activity’  </a:t>
            </a:r>
          </a:p>
          <a:p>
            <a:pPr marL="1295400" lvl="2" eaLnBrk="1" hangingPunct="1">
              <a:spcBef>
                <a:spcPts val="2300"/>
              </a:spcBef>
              <a:buFontTx/>
              <a:buChar char="-"/>
            </a:pPr>
            <a:r>
              <a:rPr lang="en-US" altLang="en-IT" dirty="0"/>
              <a:t>Can you see what happens now? </a:t>
            </a:r>
            <a:r>
              <a:rPr lang="en-US" altLang="en-IT" sz="4200" dirty="0"/>
              <a:t> </a:t>
            </a:r>
            <a:br>
              <a:rPr lang="en-US" altLang="en-IT" sz="4200" dirty="0"/>
            </a:br>
            <a:endParaRPr lang="en-US" altLang="en-IT" sz="4200" dirty="0"/>
          </a:p>
        </p:txBody>
      </p:sp>
      <p:sp>
        <p:nvSpPr>
          <p:cNvPr id="65538" name="Rectangle 2">
            <a:extLst>
              <a:ext uri="{FF2B5EF4-FFF2-40B4-BE49-F238E27FC236}">
                <a16:creationId xmlns:a16="http://schemas.microsoft.com/office/drawing/2014/main" id="{718E7976-E438-574E-8833-8270586E15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06500" y="1270000"/>
            <a:ext cx="10858500" cy="1270000"/>
          </a:xfrm>
        </p:spPr>
        <p:txBody>
          <a:bodyPr/>
          <a:lstStyle/>
          <a:p>
            <a:pPr eaLnBrk="1" hangingPunct="1"/>
            <a:r>
              <a:rPr lang="en-US" altLang="en-IT"/>
              <a:t>Bonus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F61574C9-23C1-934B-BB31-833399BBEB0A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70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1">
            <a:extLst>
              <a:ext uri="{FF2B5EF4-FFF2-40B4-BE49-F238E27FC236}">
                <a16:creationId xmlns:a16="http://schemas.microsoft.com/office/drawing/2014/main" id="{DA91A3F6-F824-C342-B934-1DE701DA0B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231900" y="1270000"/>
            <a:ext cx="10528300" cy="1270000"/>
          </a:xfrm>
        </p:spPr>
        <p:txBody>
          <a:bodyPr/>
          <a:lstStyle/>
          <a:p>
            <a:pPr eaLnBrk="1" hangingPunct="1"/>
            <a:r>
              <a:rPr lang="en-US" altLang="en-IT"/>
              <a:t>Outline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F409385-8B46-174E-A9A7-28E0B9B941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63900" y="3759200"/>
            <a:ext cx="7414964" cy="3733800"/>
          </a:xfrm>
        </p:spPr>
        <p:txBody>
          <a:bodyPr/>
          <a:lstStyle/>
          <a:p>
            <a:pPr marL="254000" indent="0" eaLnBrk="1" hangingPunct="1">
              <a:lnSpc>
                <a:spcPct val="80000"/>
              </a:lnSpc>
            </a:pPr>
            <a:r>
              <a:rPr lang="en-US" altLang="en-IT" sz="4000" dirty="0">
                <a:solidFill>
                  <a:schemeClr val="tx1"/>
                </a:solidFill>
              </a:rPr>
              <a:t>0.   What is Process mining?</a:t>
            </a:r>
          </a:p>
          <a:p>
            <a:pPr marL="996950" indent="-742950" eaLnBrk="1" hangingPunct="1">
              <a:lnSpc>
                <a:spcPct val="80000"/>
              </a:lnSpc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Example Scenario</a:t>
            </a:r>
            <a:endParaRPr lang="en-US" altLang="en-IT" sz="4000" dirty="0">
              <a:solidFill>
                <a:schemeClr val="tx1"/>
              </a:solidFill>
              <a:ea typeface="ヒラギノ角ゴ ProN W6" panose="020B0300000000000000" pitchFamily="34" charset="-128"/>
            </a:endParaRP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Roadmap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dirty="0">
                <a:solidFill>
                  <a:schemeClr val="tx1"/>
                </a:solidFill>
              </a:rPr>
              <a:t> Hands-on Session</a:t>
            </a:r>
          </a:p>
          <a:p>
            <a:pPr marL="996950" indent="-742950" eaLnBrk="1" hangingPunct="1">
              <a:lnSpc>
                <a:spcPct val="80000"/>
              </a:lnSpc>
              <a:spcBef>
                <a:spcPts val="3500"/>
              </a:spcBef>
              <a:buFont typeface="Helvetica Neue UltraLight" panose="02000206000000020004" pitchFamily="2" charset="0"/>
              <a:buAutoNum type="arabicPeriod"/>
            </a:pPr>
            <a:r>
              <a:rPr lang="en-US" altLang="en-IT" sz="4000" b="1" dirty="0">
                <a:solidFill>
                  <a:schemeClr val="tx1"/>
                </a:solidFill>
              </a:rPr>
              <a:t> 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78AF25B1-56F7-634E-88B5-98DE53294E2F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60418227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eaLnBrk="1" hangingPunct="1">
              <a:defRPr/>
            </a:pPr>
            <a:r>
              <a:rPr lang="en-US" altLang="en-IT" sz="3200" dirty="0"/>
              <a:t>Real processes are often more complex than you would expect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There is no one “right” model: </a:t>
            </a:r>
          </a:p>
          <a:p>
            <a:pPr marL="457200" indent="-457200" eaLnBrk="1" hangingPunct="1">
              <a:spcBef>
                <a:spcPts val="1200"/>
              </a:spcBef>
              <a:buFont typeface="Arial" panose="020B0604020202020204" pitchFamily="34" charset="0"/>
              <a:buChar char="•"/>
              <a:defRPr/>
            </a:pPr>
            <a:r>
              <a:rPr lang="en-US" altLang="en-IT" sz="3200" dirty="0"/>
              <a:t>You can take multiple views on the same data </a:t>
            </a:r>
          </a:p>
          <a:p>
            <a:pPr marL="0" indent="0" eaLnBrk="1" hangingPunct="1">
              <a:defRPr/>
            </a:pPr>
            <a:endParaRPr lang="en-US" altLang="en-IT" sz="1400" dirty="0"/>
          </a:p>
          <a:p>
            <a:pPr marL="0" indent="0" eaLnBrk="1" hangingPunct="1">
              <a:defRPr/>
            </a:pPr>
            <a:r>
              <a:rPr lang="en-US" altLang="en-IT" sz="3200" dirty="0"/>
              <a:t>Process mining is an explorative, interactive activity</a:t>
            </a:r>
          </a:p>
        </p:txBody>
      </p:sp>
      <p:sp>
        <p:nvSpPr>
          <p:cNvPr id="69634" name="Rectangle 2">
            <a:extLst>
              <a:ext uri="{FF2B5EF4-FFF2-40B4-BE49-F238E27FC236}">
                <a16:creationId xmlns:a16="http://schemas.microsoft.com/office/drawing/2014/main" id="{5417B5C3-92E3-1244-91DC-A18AB8D613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/>
              <a:t>Take-away Points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72</a:t>
            </a:fld>
            <a:endParaRPr lang="en-GB" dirty="0"/>
          </a:p>
        </p:txBody>
      </p:sp>
    </p:spTree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1">
            <a:extLst>
              <a:ext uri="{FF2B5EF4-FFF2-40B4-BE49-F238E27FC236}">
                <a16:creationId xmlns:a16="http://schemas.microsoft.com/office/drawing/2014/main" id="{0CF3BDB3-0EDC-2049-B0F7-08DE5C2BE5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358900" y="2806700"/>
            <a:ext cx="10553700" cy="5930900"/>
          </a:xfrm>
        </p:spPr>
        <p:txBody>
          <a:bodyPr/>
          <a:lstStyle/>
          <a:p>
            <a:pPr marL="0" indent="0" algn="ctr" eaLnBrk="1" hangingPunct="1">
              <a:defRPr/>
            </a:pPr>
            <a:r>
              <a:rPr lang="en-US" altLang="en-IT" sz="3200" dirty="0"/>
              <a:t>Questions?</a:t>
            </a:r>
          </a:p>
          <a:p>
            <a:pPr marL="0" indent="0" algn="ctr" eaLnBrk="1" hangingPunct="1">
              <a:defRPr/>
            </a:pPr>
            <a:r>
              <a:rPr lang="en-US" altLang="en-IT" sz="3200" dirty="0"/>
              <a:t>Want to use these techniques in your research?</a:t>
            </a:r>
          </a:p>
          <a:p>
            <a:pPr marL="0" indent="0" algn="ctr" eaLnBrk="1" hangingPunct="1">
              <a:defRPr/>
            </a:pPr>
            <a:endParaRPr lang="en-US" altLang="en-IT" sz="3200" dirty="0"/>
          </a:p>
          <a:p>
            <a:pPr marL="0" indent="0" algn="ctr" eaLnBrk="1" hangingPunct="1">
              <a:defRPr/>
            </a:pPr>
            <a:r>
              <a:rPr lang="en-US" altLang="en-IT" sz="3200" dirty="0" err="1"/>
              <a:t>andrea.vandin@santannapisa.it</a:t>
            </a:r>
            <a:endParaRPr lang="en-US" altLang="en-IT" sz="3200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866E424-3566-DB4F-9A6C-2EF63F169360}"/>
              </a:ext>
            </a:extLst>
          </p:cNvPr>
          <p:cNvSpPr txBox="1">
            <a:spLocks/>
          </p:cNvSpPr>
          <p:nvPr/>
        </p:nvSpPr>
        <p:spPr>
          <a:xfrm>
            <a:off x="12049719" y="8842842"/>
            <a:ext cx="780373" cy="746382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5pPr>
            <a:lvl6pPr marL="22860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6pPr>
            <a:lvl7pPr marL="27432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7pPr>
            <a:lvl8pPr marL="32004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8pPr>
            <a:lvl9pPr marL="3657600" algn="l" defTabSz="914400" rtl="0" eaLnBrk="1" latinLnBrk="0" hangingPunct="1">
              <a:defRPr sz="4000" kern="12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cs typeface="+mn-cs"/>
                <a:sym typeface="Gill Sans" panose="020B0502020104020203" pitchFamily="34" charset="-79"/>
              </a:defRPr>
            </a:lvl9pPr>
          </a:lstStyle>
          <a:p>
            <a:fld id="{00000000-1234-1234-1234-123412341234}" type="slidenum">
              <a:rPr lang="en-GB" smtClean="0"/>
              <a:pPr/>
              <a:t>73</a:t>
            </a:fld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67FCD0-4B3F-BB44-9ABB-506F35510478}"/>
              </a:ext>
            </a:extLst>
          </p:cNvPr>
          <p:cNvSpPr/>
          <p:nvPr/>
        </p:nvSpPr>
        <p:spPr bwMode="auto">
          <a:xfrm>
            <a:off x="10318824" y="268288"/>
            <a:ext cx="2511268" cy="1080120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40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777654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itle &amp; Subtitl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AB34"/>
      </a:accent1>
      <a:accent2>
        <a:srgbClr val="333399"/>
      </a:accent2>
      <a:accent3>
        <a:srgbClr val="FFFFFF"/>
      </a:accent3>
      <a:accent4>
        <a:srgbClr val="000000"/>
      </a:accent4>
      <a:accent5>
        <a:srgbClr val="FFD2AE"/>
      </a:accent5>
      <a:accent6>
        <a:srgbClr val="2D2D8A"/>
      </a:accent6>
      <a:hlink>
        <a:srgbClr val="009999"/>
      </a:hlink>
      <a:folHlink>
        <a:srgbClr val="99CC00"/>
      </a:folHlink>
    </a:clrScheme>
    <a:fontScheme name="Title &amp; Subtitle">
      <a:majorFont>
        <a:latin typeface="Helvetica Neue UltraLight"/>
        <a:ea typeface="ヒラギノ角ゴ ProN W3"/>
        <a:cs typeface="ヒラギノ角ゴ ProN W3"/>
      </a:majorFont>
      <a:minorFont>
        <a:latin typeface="Helvetica Neue Light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Title &amp; Subtitl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Master #5">
  <a:themeElements>
    <a:clrScheme name="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Master #5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Master #5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Bullets whit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31632B"/>
      </a:accent1>
      <a:accent2>
        <a:srgbClr val="333399"/>
      </a:accent2>
      <a:accent3>
        <a:srgbClr val="FFFFFF"/>
      </a:accent3>
      <a:accent4>
        <a:srgbClr val="000000"/>
      </a:accent4>
      <a:accent5>
        <a:srgbClr val="ADB7AC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whit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whi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Bullets green">
  <a:themeElements>
    <a:clrScheme name="">
      <a:dk1>
        <a:srgbClr val="000000"/>
      </a:dk1>
      <a:lt1>
        <a:srgbClr val="34481A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1AB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green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gree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Bullets blue">
  <a:themeElements>
    <a:clrScheme name="">
      <a:dk1>
        <a:srgbClr val="000000"/>
      </a:dk1>
      <a:lt1>
        <a:srgbClr val="364363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AEB0B7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ullets blue">
      <a:majorFont>
        <a:latin typeface="Helvetica Neue UltraLight"/>
        <a:ea typeface="ヒラギノ角ゴ ProN W3"/>
        <a:cs typeface="ヒラギノ角ゴ ProN W3"/>
      </a:majorFont>
      <a:minorFont>
        <a:latin typeface="Helvetica Neue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40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Bullets blu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5978</TotalTime>
  <Pages>0</Pages>
  <Words>2259</Words>
  <Characters>0</Characters>
  <Application>Microsoft Macintosh PowerPoint</Application>
  <PresentationFormat>Custom</PresentationFormat>
  <Lines>0</Lines>
  <Paragraphs>348</Paragraphs>
  <Slides>73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73</vt:i4>
      </vt:variant>
    </vt:vector>
  </HeadingPairs>
  <TitlesOfParts>
    <vt:vector size="88" baseType="lpstr">
      <vt:lpstr>Arial</vt:lpstr>
      <vt:lpstr>Calibri</vt:lpstr>
      <vt:lpstr>Courier</vt:lpstr>
      <vt:lpstr>Gill Sans</vt:lpstr>
      <vt:lpstr>Helvetica</vt:lpstr>
      <vt:lpstr>Helvetica Neue</vt:lpstr>
      <vt:lpstr>Helvetica Neue Light</vt:lpstr>
      <vt:lpstr>Helvetica Neue UltraLight</vt:lpstr>
      <vt:lpstr>Lucida Grande</vt:lpstr>
      <vt:lpstr>ヒラギノ角ゴ ProN W6</vt:lpstr>
      <vt:lpstr>Title &amp; Subtitle</vt:lpstr>
      <vt:lpstr>Master #5</vt:lpstr>
      <vt:lpstr>Bullets white</vt:lpstr>
      <vt:lpstr>Bullets green</vt:lpstr>
      <vt:lpstr>Bullets blue</vt:lpstr>
      <vt:lpstr>Process Mining Tutorial </vt:lpstr>
      <vt:lpstr>Goals of this tutorial </vt:lpstr>
      <vt:lpstr>Outline</vt:lpstr>
      <vt:lpstr>What is Process Mining? </vt:lpstr>
      <vt:lpstr>What can we do with Process Mining?</vt:lpstr>
      <vt:lpstr>What can we do with Process Mining?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legal one</vt:lpstr>
      <vt:lpstr>We will see a simple example (purchasing process) However, PM has been applied to several domains, e.g., the healthcare one</vt:lpstr>
      <vt:lpstr>We will see a simple example (purchasing process) However, PM has been applied to several domains, e.g., the security one</vt:lpstr>
      <vt:lpstr>Outline</vt:lpstr>
      <vt:lpstr>Example Scenario</vt:lpstr>
      <vt:lpstr>Problems</vt:lpstr>
      <vt:lpstr>Analysis Goals</vt:lpstr>
      <vt:lpstr>Outline</vt:lpstr>
      <vt:lpstr>Roadmap</vt:lpstr>
      <vt:lpstr>Roadmap</vt:lpstr>
      <vt:lpstr>Roadmap</vt:lpstr>
      <vt:lpstr>Data Extraction</vt:lpstr>
      <vt:lpstr>Roadmap</vt:lpstr>
      <vt:lpstr>Data Analysis</vt:lpstr>
      <vt:lpstr>Roadmap</vt:lpstr>
      <vt:lpstr>Outline</vt:lpstr>
      <vt:lpstr>Hands-on Session </vt:lpstr>
      <vt:lpstr>Step 1 - Inspect Data</vt:lpstr>
      <vt:lpstr>PowerPoint Presentation</vt:lpstr>
      <vt:lpstr>PowerPoint Presentation</vt:lpstr>
      <vt:lpstr>PowerPoint Presentation</vt:lpstr>
      <vt:lpstr>PowerPoint Presentation</vt:lpstr>
      <vt:lpstr>Step 2 - Import Data</vt:lpstr>
      <vt:lpstr>PowerPoint Presentation</vt:lpstr>
      <vt:lpstr>Step 3 - Inspect Process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Step 4 - Inspect Statistics</vt:lpstr>
      <vt:lpstr>PowerPoint Presentation</vt:lpstr>
      <vt:lpstr>Step 5 - Inspect Cases</vt:lpstr>
      <vt:lpstr>PowerPoint Presentation</vt:lpstr>
      <vt:lpstr>PowerPoint Presentation</vt:lpstr>
      <vt:lpstr>Results so far...</vt:lpstr>
      <vt:lpstr>Step 6 - Filter on Performance</vt:lpstr>
      <vt:lpstr>PowerPoint Presentation</vt:lpstr>
      <vt:lpstr>PowerPoint Presentation</vt:lpstr>
      <vt:lpstr>Step 7 - Spot Bottlenecks</vt:lpstr>
      <vt:lpstr>PowerPoint Presentation</vt:lpstr>
      <vt:lpstr>Step 7b - Spot Bottlenecks</vt:lpstr>
      <vt:lpstr>PowerPoint Presentation</vt:lpstr>
      <vt:lpstr>Step 8 - Animate Process</vt:lpstr>
      <vt:lpstr>PowerPoint Presentation</vt:lpstr>
      <vt:lpstr>Results so far...</vt:lpstr>
      <vt:lpstr>Step 9 - Compliance Check</vt:lpstr>
      <vt:lpstr>PowerPoint Presentation</vt:lpstr>
      <vt:lpstr>Step 9 - Compliance Check</vt:lpstr>
      <vt:lpstr>PowerPoint Presentation</vt:lpstr>
      <vt:lpstr>PowerPoint Presentation</vt:lpstr>
      <vt:lpstr>Results so far...</vt:lpstr>
      <vt:lpstr>Step 10 - Organizational View</vt:lpstr>
      <vt:lpstr>PowerPoint Presentation</vt:lpstr>
      <vt:lpstr>Step 10 - Organizational View</vt:lpstr>
      <vt:lpstr>PowerPoint Presentation</vt:lpstr>
      <vt:lpstr>Close the loop</vt:lpstr>
      <vt:lpstr>Bonus</vt:lpstr>
      <vt:lpstr>Outline</vt:lpstr>
      <vt:lpstr>Take-away Points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Process Mining Tutorial </dc:title>
  <dc:subject/>
  <dc:creator/>
  <cp:keywords/>
  <dc:description/>
  <cp:lastModifiedBy>Andrea Vandin</cp:lastModifiedBy>
  <cp:revision>39</cp:revision>
  <cp:lastPrinted>2023-03-01T12:39:15Z</cp:lastPrinted>
  <dcterms:created xsi:type="dcterms:W3CDTF">2013-07-26T13:26:04Z</dcterms:created>
  <dcterms:modified xsi:type="dcterms:W3CDTF">2026-03-02T21:37:54Z</dcterms:modified>
</cp:coreProperties>
</file>